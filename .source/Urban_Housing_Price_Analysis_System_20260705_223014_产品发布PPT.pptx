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各位同学，大家好。我们今天要发布的产品，叫城市房价分析系统。一句话说，它要做的就是——看懂一座城的房价，并且预测它的下一步走势。接下来的十分钟，我会带大家看清楚它是什么、怎么做，以及我们打算怎么一步步把它做出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介绍一下我们自己。我们是一个项目开发小组，分成采集、处理、机器学习和前后端四条线，用到的技术是Web、网络爬虫和数据分析。整个系统有三层功能、七项核心能力、四层架构，目前正在开发之中，今天是一次阶段性的成果发布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为什么要做这件事？因为房价看得见，却很难看懂。数据散落在政府土地局、中介、房企和城建等好几个来源，口径还各不相同。普通购房者只能一个一个网站手动去查，不同城市和区域之间比不清楚，更别说预判未来的走势——大多数时候只能拍脑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答案，是把这三件事一次做好：看得懂、比得清、算得准。系统等于多源采集，加上可视化分析，再加上机器学习预测。右边这张用例图，就是它整体能覆盖的功能范围。说白了，就是把原始的网页数据，变成可以交互、还能预测的房价洞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能上我们按可交付的难度分了三层，由浅入深。基础层先跑通：搜索、图表和走势。扩展层再增强：跨城对比、地图和角色权限。高级层做亮点：用机器学习预测指定区域和时段的价格波动。这样安排，既保证能交付，也留足了发挥空间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数据能说什么。这是一张示例图，展示某个城市各区域的二手房均价。数据经过多源爬取、清洗和聚合，系统就能一眼给出区域之间的均价梯度——从核心区的五点八万，到远郊的一点八万，高低一目了然。这就是看得懂的第一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第二步，是看趋势。把时间拉长到近十二个月，系统能告诉你一个区域是涨、是跌，还是在横盘。图上核心区在高位微涨，城东则稳步补涨。它还支持同比环比、多区域叠加对比，帮我们识别趋势的拐点。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讲讲底层怎么搭。整个系统分四层，自下而上。最底下是采集层，用爬虫把网页数据抓下来；往上是数据层，负责清洗、特征和存储；再往上是分析预测层，做数据分析、机器学习和可视化；最上面是应用层，也就是大家看到的Web界面。每一层的技术选型，都是按我们团队能真正落地的范围来定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从网页到能用，要走四步流水线，每一步都有明确产出。采集这一步，静态页用requests加lxml，动态页用Selenium，配上反爬的处理，产出是原始房源列表。之后经过清洗，变成结构化数据表，再存进数据库，最后做特征工程，产出模型能直接用的输入特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测部分，我们沿用经典的Kaggle房价回归范式，分四步：特征工程、模型选择、交叉验证、预测输出。策略是先用简单模型跑通，再上进阶模型调优。这里我想诚实地说明——我们的目标是随机森林先达标，把XGBoost当作提升的亮点，不追求竞赛级的精度，重点是把整条链路真正跑通，这也符合我们的实际能力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看界面和案例。左边是我们已经验证过的应用案例，说明从采集到分析这条链路是走得通的。右边两块是开发中的真实界面——可视化大屏和区域房价地图，会在正式发布时补上真实截图。也就是说，链路已经验证，产品正在长出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和普通的房价查询相比，我们有四个亮点。第一，多源数据融合，把政府、中介、房企、城建的数据汇到一处；第二，机器学习预测，不只是展示，还能算未来；第三，地图可视化，区域热力一眼看清；第四，角色权限分级，不同用户看到不同的内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落地计划，我们分三步走。第一个月内夯实基础，把采集、清洗和基础可视化跑起来；第二到三个月做能力增强，加上对比、地图、权限和机器学习预测；三个月以后完善上线，做模型调优、可视化大屏和系统测试。这个节奏，是按我们课余能投入的时间估算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看懂到预测，我们希望让每一次看房，都有数据撑腰。下一步，我们会接入真实数据、完善可视化大屏，把系统真正上线。以上就是城市房价分析系统的发布介绍，感谢各位老师和同学，也欢迎大家提问交流，谢谢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cec8de16d6ed5d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f9b3fe83f79cfeb6.jp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e58f2833276d607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a169b14aafe02689.jpg"/>
  <Relationship Id="rId3" Type="http://schemas.openxmlformats.org/officeDocument/2006/relationships/image" Target="../media/image_550038e60b5c7bd4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7821" r="0" b="782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F2A37">
                    <a:alpha val="94000"/>
                  </a:srgbClr>
                </a:gs>
                <a:gs pos="48000">
                  <a:srgbClr val="1F2A37">
                    <a:alpha val="72000"/>
                  </a:srgbClr>
                </a:gs>
                <a:gs pos="100000">
                  <a:srgbClr val="1F2A37">
                    <a:alpha val="8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4000500"/>
              <a:ext cx="12192000" cy="2857500"/>
            </a:xfrm>
            <a:prstGeom prst="rect">
              <a:avLst/>
            </a:prstGeom>
            <a:gradFill>
              <a:gsLst>
                <a:gs pos="0">
                  <a:srgbClr val="1F2A37">
                    <a:alpha val="0"/>
                  </a:srgbClr>
                </a:gs>
                <a:gs pos="100000">
                  <a:srgbClr val="1F2A37">
                    <a:alpha val="55000"/>
                  </a:srgb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42950" y="2254568"/>
            <a:ext cx="7501433" cy="2665666"/>
            <a:chOff x="742950" y="2254568"/>
            <a:chExt cx="7501433" cy="2665666"/>
          </a:xfrm>
        </p:grpSpPr>
        <p:sp>
          <p:nvSpPr>
            <p:cNvPr id="6" name="TextBox 6"/>
            <p:cNvSpPr txBox="1"/>
            <p:nvPr/>
          </p:nvSpPr>
          <p:spPr>
            <a:xfrm>
              <a:off x="793242" y="2254568"/>
              <a:ext cx="36015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300" dirty="0">
                  <a:solidFill>
                    <a:srgbClr val="16B8A6"/>
                  </a:solidFill>
                  <a:latin typeface="Segoe UI"/>
                  <a:ea typeface="Microsoft YaHei"/>
                  <a:cs typeface="Segoe UI"/>
                </a:rPr>
                <a:t>产品发布 · PRODUCT RELEASE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2950" y="2640330"/>
              <a:ext cx="750143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城市房价分析系统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19150" y="3600450"/>
              <a:ext cx="1257300" cy="66675"/>
            </a:xfrm>
            <a:prstGeom prst="roundRect">
              <a:avLst>
                <a:gd name="adj" fmla="val 50000"/>
              </a:avLst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6958" y="4046220"/>
              <a:ext cx="54522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AF3FB"/>
                  </a:solidFill>
                  <a:latin typeface="Segoe UI"/>
                  <a:ea typeface="Microsoft YaHei"/>
                  <a:cs typeface="Segoe UI"/>
                </a:rPr>
                <a:t>看懂</a:t>
              </a:r>
              <a:r>
                <a:rPr lang="zh-CN" sz="2400" b="1" dirty="0">
                  <a:solidFill>
                    <a:srgbClr val="7FE3D6"/>
                  </a:solidFill>
                  <a:latin typeface="Segoe UI"/>
                  <a:ea typeface="Microsoft YaHei"/>
                  <a:cs typeface="Segoe UI"/>
                </a:rPr>
                <a:t>一座城的房价</a:t>
              </a:r>
              <a:r>
                <a:rPr lang="zh-CN" sz="2400" b="1" dirty="0">
                  <a:solidFill>
                    <a:srgbClr val="EAF3FB"/>
                  </a:solidFill>
                  <a:latin typeface="Segoe UI"/>
                  <a:ea typeface="Microsoft YaHei"/>
                  <a:cs typeface="Segoe UI"/>
                </a:rPr>
                <a:t>，预测</a:t>
              </a:r>
              <a:r>
                <a:rPr lang="zh-CN" sz="2400" b="1" dirty="0">
                  <a:solidFill>
                    <a:srgbClr val="7FE3D6"/>
                  </a:solidFill>
                  <a:latin typeface="Segoe UI"/>
                  <a:ea typeface="Microsoft YaHei"/>
                  <a:cs typeface="Segoe UI"/>
                </a:rPr>
                <a:t>下一步走势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006" y="4568190"/>
              <a:ext cx="42103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4D2E2"/>
                  </a:solidFill>
                  <a:latin typeface="Segoe UI"/>
                  <a:ea typeface="Microsoft YaHei"/>
                  <a:cs typeface="Segoe UI"/>
                </a:rPr>
                <a:t>多源采集 · 可视化分析 · 机器学习预测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753350" y="2425974"/>
            <a:ext cx="3552825" cy="2107926"/>
            <a:chOff x="7753350" y="2425974"/>
            <a:chExt cx="3552825" cy="2107926"/>
          </a:xfrm>
        </p:grpSpPr>
        <p:sp>
          <p:nvSpPr>
            <p:cNvPr id="12" name="Polyline 12"/>
            <p:cNvSpPr/>
            <p:nvPr/>
          </p:nvSpPr>
          <p:spPr>
            <a:xfrm>
              <a:off x="7810500" y="3048000"/>
              <a:ext cx="3429000" cy="1428750"/>
            </a:xfrm>
            <a:custGeom>
              <a:avLst/>
              <a:gdLst/>
              <a:ahLst/>
              <a:cxnLst/>
              <a:rect l="l" t="t" r="r" b="b"/>
              <a:pathLst>
                <a:path w="3429000" h="1428750">
                  <a:moveTo>
                    <a:pt x="0" y="1428750"/>
                  </a:moveTo>
                  <a:lnTo>
                    <a:pt x="571500" y="1143000"/>
                  </a:lnTo>
                  <a:lnTo>
                    <a:pt x="1143000" y="1257300"/>
                  </a:lnTo>
                  <a:lnTo>
                    <a:pt x="1714500" y="742950"/>
                  </a:lnTo>
                  <a:lnTo>
                    <a:pt x="2286000" y="857250"/>
                  </a:lnTo>
                  <a:lnTo>
                    <a:pt x="2857500" y="304800"/>
                  </a:lnTo>
                  <a:lnTo>
                    <a:pt x="3429000" y="0"/>
                  </a:lnTo>
                </a:path>
              </a:pathLst>
            </a:custGeom>
            <a:noFill/>
            <a:ln w="38100" cap="rnd">
              <a:solidFill>
                <a:srgbClr val="16B8A6"/>
              </a:solidFill>
              <a:round/>
            </a:ln>
          </p:spPr>
        </p:sp>
        <p:sp>
          <p:nvSpPr>
            <p:cNvPr id="13" name="Ellipse 13"/>
            <p:cNvSpPr/>
            <p:nvPr/>
          </p:nvSpPr>
          <p:spPr>
            <a:xfrm>
              <a:off x="7753350" y="4419600"/>
              <a:ext cx="114300" cy="1143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896350" y="4248150"/>
              <a:ext cx="114300" cy="1143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039350" y="3848100"/>
              <a:ext cx="114300" cy="1143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172825" y="29813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6B8A6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976190" y="2425974"/>
              <a:ext cx="278970" cy="271190"/>
            </a:xfrm>
            <a:custGeom>
              <a:avLst/>
              <a:gdLst/>
              <a:ahLst/>
              <a:cxnLst/>
              <a:rect l="l" t="t" r="r" b="b"/>
              <a:pathLst>
                <a:path w="278970" h="271190">
                  <a:moveTo>
                    <a:pt x="149025" y="5268"/>
                  </a:moveTo>
                  <a:lnTo>
                    <a:pt x="270469" y="126712"/>
                  </a:lnTo>
                  <a:cubicBezTo>
                    <a:pt x="278970" y="135213"/>
                    <a:pt x="272952" y="149746"/>
                    <a:pt x="260929" y="149746"/>
                  </a:cubicBezTo>
                  <a:lnTo>
                    <a:pt x="247435" y="149746"/>
                  </a:lnTo>
                  <a:lnTo>
                    <a:pt x="247435" y="230708"/>
                  </a:lnTo>
                  <a:cubicBezTo>
                    <a:pt x="247435" y="253066"/>
                    <a:pt x="229311" y="271190"/>
                    <a:pt x="206954" y="271190"/>
                  </a:cubicBezTo>
                  <a:lnTo>
                    <a:pt x="193460" y="271190"/>
                  </a:lnTo>
                  <a:lnTo>
                    <a:pt x="193460" y="176733"/>
                  </a:lnTo>
                  <a:cubicBezTo>
                    <a:pt x="193462" y="155298"/>
                    <a:pt x="176753" y="137577"/>
                    <a:pt x="155354" y="136319"/>
                  </a:cubicBezTo>
                  <a:lnTo>
                    <a:pt x="152979" y="136252"/>
                  </a:lnTo>
                  <a:lnTo>
                    <a:pt x="125991" y="136252"/>
                  </a:lnTo>
                  <a:cubicBezTo>
                    <a:pt x="103634" y="136252"/>
                    <a:pt x="85510" y="154376"/>
                    <a:pt x="85510" y="176733"/>
                  </a:cubicBezTo>
                  <a:lnTo>
                    <a:pt x="85510" y="271190"/>
                  </a:lnTo>
                  <a:lnTo>
                    <a:pt x="72016" y="271190"/>
                  </a:lnTo>
                  <a:cubicBezTo>
                    <a:pt x="49659" y="271190"/>
                    <a:pt x="31535" y="253066"/>
                    <a:pt x="31535" y="230708"/>
                  </a:cubicBezTo>
                  <a:lnTo>
                    <a:pt x="31535" y="149746"/>
                  </a:lnTo>
                  <a:lnTo>
                    <a:pt x="18041" y="149746"/>
                  </a:lnTo>
                  <a:cubicBezTo>
                    <a:pt x="6032" y="149746"/>
                    <a:pt x="0" y="135213"/>
                    <a:pt x="8501" y="126712"/>
                  </a:cubicBezTo>
                  <a:lnTo>
                    <a:pt x="129945" y="5268"/>
                  </a:lnTo>
                  <a:cubicBezTo>
                    <a:pt x="135214" y="0"/>
                    <a:pt x="143756" y="0"/>
                    <a:pt x="149025" y="5268"/>
                  </a:cubicBezTo>
                  <a:moveTo>
                    <a:pt x="152979" y="163239"/>
                  </a:moveTo>
                  <a:cubicBezTo>
                    <a:pt x="160431" y="163239"/>
                    <a:pt x="166473" y="169281"/>
                    <a:pt x="166473" y="176733"/>
                  </a:cubicBezTo>
                  <a:lnTo>
                    <a:pt x="166473" y="271190"/>
                  </a:lnTo>
                  <a:lnTo>
                    <a:pt x="112498" y="271190"/>
                  </a:lnTo>
                  <a:lnTo>
                    <a:pt x="112498" y="176733"/>
                  </a:lnTo>
                  <a:cubicBezTo>
                    <a:pt x="112499" y="169892"/>
                    <a:pt x="117619" y="164134"/>
                    <a:pt x="124413" y="163334"/>
                  </a:cubicBezTo>
                  <a:lnTo>
                    <a:pt x="125991" y="163239"/>
                  </a:lnTo>
                  <a:close/>
                </a:path>
              </a:pathLst>
            </a:custGeom>
            <a:solidFill>
              <a:srgbClr val="5AA0DC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12292" y="6102668"/>
            <a:ext cx="5526786" cy="517588"/>
            <a:chOff x="812292" y="6102668"/>
            <a:chExt cx="5526786" cy="517588"/>
          </a:xfrm>
        </p:grpSpPr>
        <p:sp>
          <p:nvSpPr>
            <p:cNvPr id="19" name="TextBox 19"/>
            <p:cNvSpPr txBox="1"/>
            <p:nvPr/>
          </p:nvSpPr>
          <p:spPr>
            <a:xfrm>
              <a:off x="812292" y="6102668"/>
              <a:ext cx="29046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E6F1"/>
                  </a:solidFill>
                  <a:latin typeface="Segoe UI"/>
                  <a:ea typeface="Microsoft YaHei"/>
                  <a:cs typeface="Segoe UI"/>
                </a:rPr>
                <a:t>产品发布 · 项目开发组 · 2026.07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054" y="6385560"/>
              <a:ext cx="5526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FB2C6"/>
                  </a:solidFill>
                  <a:latin typeface="Segoe UI"/>
                  <a:ea typeface="Microsoft YaHei"/>
                  <a:cs typeface="Segoe UI"/>
                </a:rPr>
                <a:t>技术类别 Web · 网络爬虫 · 数据分析 | 当前：开发进行中 · 阶段性成果发布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95300"/>
            <a:ext cx="11132058" cy="637985"/>
            <a:chOff x="533400" y="495300"/>
            <a:chExt cx="11132058" cy="637985"/>
          </a:xfrm>
        </p:grpSpPr>
        <p:sp>
          <p:nvSpPr>
            <p:cNvPr id="3" name="Rectangle 3"/>
            <p:cNvSpPr/>
            <p:nvPr/>
          </p:nvSpPr>
          <p:spPr>
            <a:xfrm>
              <a:off x="533400" y="495300"/>
              <a:ext cx="76200" cy="43815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517208"/>
              <a:ext cx="40393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我们是谁，要做什么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662035" y="673418"/>
              <a:ext cx="30034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spc="150" dirty="0">
                  <a:solidFill>
                    <a:srgbClr val="8A94A0"/>
                  </a:solidFill>
                  <a:latin typeface="Segoe UI"/>
                  <a:ea typeface="Segoe UI"/>
                  <a:cs typeface="Segoe UI"/>
                </a:rPr>
                <a:t>TEAM &amp; PROJECT SNAPSHOT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1332" y="1221105"/>
            <a:ext cx="8218120" cy="791718"/>
            <a:chOff x="751332" y="1221105"/>
            <a:chExt cx="8218120" cy="791718"/>
          </a:xfrm>
        </p:grpSpPr>
        <p:sp>
          <p:nvSpPr>
            <p:cNvPr id="7" name="TextBox 7"/>
            <p:cNvSpPr txBox="1"/>
            <p:nvPr/>
          </p:nvSpPr>
          <p:spPr>
            <a:xfrm>
              <a:off x="751332" y="1221105"/>
              <a:ext cx="8218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 xml:space="preserve">一个项目开发小组，用 </a:t>
              </a:r>
              <a:r>
                <a:rPr lang="zh-CN" sz="210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Web + 网络爬虫 + 数据分析</a:t>
              </a:r>
              <a:r>
                <a:rPr lang="zh-CN" sz="210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 xml:space="preserve"> 做一件事——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1332" y="1602105"/>
              <a:ext cx="74705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把散落各处的城市房价数据，变成</a:t>
              </a:r>
              <a:r>
                <a:rPr lang="zh-CN" sz="2100" b="1" dirty="0">
                  <a:solidFill>
                    <a:srgbClr val="16B8A6"/>
                  </a:solidFill>
                  <a:latin typeface="Segoe UI"/>
                  <a:ea typeface="Microsoft YaHei"/>
                  <a:cs typeface="Segoe UI"/>
                </a:rPr>
                <a:t>看得懂、能预测</a:t>
              </a:r>
              <a:r>
                <a:rPr lang="zh-CN" sz="210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的洞察。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3400" y="2286000"/>
            <a:ext cx="11125200" cy="1676400"/>
            <a:chOff x="533400" y="2286000"/>
            <a:chExt cx="11125200" cy="1676400"/>
          </a:xfrm>
        </p:grpSpPr>
        <p:grpSp>
          <p:nvGrpSpPr>
            <p:cNvPr id="15" name="Group 15"/>
            <p:cNvGrpSpPr/>
            <p:nvPr/>
          </p:nvGrpSpPr>
          <p:grpSpPr>
            <a:xfrm>
              <a:off x="533400" y="2286000"/>
              <a:ext cx="2609850" cy="1676400"/>
              <a:chOff x="533400" y="2286000"/>
              <a:chExt cx="2609850" cy="16764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33400" y="2286000"/>
                <a:ext cx="2609850" cy="1676400"/>
              </a:xfrm>
              <a:prstGeom prst="roundRect">
                <a:avLst>
                  <a:gd name="adj" fmla="val 7955"/>
                </a:avLst>
              </a:prstGeom>
              <a:solidFill>
                <a:srgbClr val="F5F8FC"/>
              </a:solidFill>
              <a:ln w="9525">
                <a:solidFill>
                  <a:srgbClr val="D8E2EF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62000" y="2514600"/>
                <a:ext cx="495300" cy="495300"/>
              </a:xfrm>
              <a:prstGeom prst="roundRect">
                <a:avLst>
                  <a:gd name="adj" fmla="val 26923"/>
                </a:avLst>
              </a:prstGeom>
              <a:solidFill>
                <a:srgbClr val="EAF2FB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92013" y="2662238"/>
                <a:ext cx="23527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35274" h="188913">
                    <a:moveTo>
                      <a:pt x="195425" y="0"/>
                    </a:moveTo>
                    <a:cubicBezTo>
                      <a:pt x="201562" y="0"/>
                      <a:pt x="206537" y="4975"/>
                      <a:pt x="206537" y="11113"/>
                    </a:cubicBezTo>
                    <a:lnTo>
                      <a:pt x="206537" y="33338"/>
                    </a:lnTo>
                    <a:cubicBezTo>
                      <a:pt x="206537" y="36285"/>
                      <a:pt x="205365" y="39111"/>
                      <a:pt x="203281" y="41194"/>
                    </a:cubicBezTo>
                    <a:lnTo>
                      <a:pt x="166688" y="77788"/>
                    </a:lnTo>
                    <a:lnTo>
                      <a:pt x="201914" y="77788"/>
                    </a:lnTo>
                    <a:lnTo>
                      <a:pt x="215349" y="64375"/>
                    </a:lnTo>
                    <a:cubicBezTo>
                      <a:pt x="219710" y="60164"/>
                      <a:pt x="226641" y="60224"/>
                      <a:pt x="230927" y="64510"/>
                    </a:cubicBezTo>
                    <a:cubicBezTo>
                      <a:pt x="235214" y="68797"/>
                      <a:pt x="235274" y="75728"/>
                      <a:pt x="231063" y="80088"/>
                    </a:cubicBezTo>
                    <a:lnTo>
                      <a:pt x="214394" y="96757"/>
                    </a:lnTo>
                    <a:cubicBezTo>
                      <a:pt x="212310" y="98841"/>
                      <a:pt x="209484" y="100012"/>
                      <a:pt x="206537" y="100013"/>
                    </a:cubicBezTo>
                    <a:lnTo>
                      <a:pt x="166699" y="100013"/>
                    </a:lnTo>
                    <a:lnTo>
                      <a:pt x="214394" y="147719"/>
                    </a:lnTo>
                    <a:cubicBezTo>
                      <a:pt x="216478" y="149802"/>
                      <a:pt x="217649" y="152628"/>
                      <a:pt x="217650" y="155575"/>
                    </a:cubicBezTo>
                    <a:lnTo>
                      <a:pt x="217650" y="177801"/>
                    </a:lnTo>
                    <a:cubicBezTo>
                      <a:pt x="217650" y="183938"/>
                      <a:pt x="212674" y="188913"/>
                      <a:pt x="206537" y="188913"/>
                    </a:cubicBezTo>
                    <a:cubicBezTo>
                      <a:pt x="200400" y="188913"/>
                      <a:pt x="195425" y="183938"/>
                      <a:pt x="195425" y="177801"/>
                    </a:cubicBezTo>
                    <a:lnTo>
                      <a:pt x="195425" y="160187"/>
                    </a:lnTo>
                    <a:lnTo>
                      <a:pt x="173022" y="137784"/>
                    </a:lnTo>
                    <a:cubicBezTo>
                      <a:pt x="170707" y="166656"/>
                      <a:pt x="146601" y="188905"/>
                      <a:pt x="117637" y="188905"/>
                    </a:cubicBezTo>
                    <a:cubicBezTo>
                      <a:pt x="88673" y="188905"/>
                      <a:pt x="64567" y="166656"/>
                      <a:pt x="62252" y="137784"/>
                    </a:cubicBezTo>
                    <a:lnTo>
                      <a:pt x="39849" y="160176"/>
                    </a:lnTo>
                    <a:lnTo>
                      <a:pt x="39849" y="177801"/>
                    </a:lnTo>
                    <a:cubicBezTo>
                      <a:pt x="39848" y="183434"/>
                      <a:pt x="35632" y="188176"/>
                      <a:pt x="30037" y="188835"/>
                    </a:cubicBezTo>
                    <a:lnTo>
                      <a:pt x="28737" y="188913"/>
                    </a:lnTo>
                    <a:cubicBezTo>
                      <a:pt x="22599" y="188913"/>
                      <a:pt x="17624" y="183938"/>
                      <a:pt x="17624" y="177801"/>
                    </a:cubicBezTo>
                    <a:lnTo>
                      <a:pt x="17624" y="155575"/>
                    </a:lnTo>
                    <a:cubicBezTo>
                      <a:pt x="17625" y="152628"/>
                      <a:pt x="18796" y="149802"/>
                      <a:pt x="20880" y="147719"/>
                    </a:cubicBezTo>
                    <a:lnTo>
                      <a:pt x="68564" y="100013"/>
                    </a:lnTo>
                    <a:lnTo>
                      <a:pt x="28737" y="100013"/>
                    </a:lnTo>
                    <a:cubicBezTo>
                      <a:pt x="25790" y="100012"/>
                      <a:pt x="22964" y="98841"/>
                      <a:pt x="20880" y="96757"/>
                    </a:cubicBezTo>
                    <a:lnTo>
                      <a:pt x="4211" y="80088"/>
                    </a:lnTo>
                    <a:cubicBezTo>
                      <a:pt x="0" y="75728"/>
                      <a:pt x="60" y="68797"/>
                      <a:pt x="4347" y="64510"/>
                    </a:cubicBezTo>
                    <a:cubicBezTo>
                      <a:pt x="8633" y="60224"/>
                      <a:pt x="15564" y="60164"/>
                      <a:pt x="19924" y="64375"/>
                    </a:cubicBezTo>
                    <a:lnTo>
                      <a:pt x="33348" y="77788"/>
                    </a:lnTo>
                    <a:lnTo>
                      <a:pt x="68575" y="77788"/>
                    </a:lnTo>
                    <a:lnTo>
                      <a:pt x="31993" y="41194"/>
                    </a:lnTo>
                    <a:cubicBezTo>
                      <a:pt x="29909" y="39111"/>
                      <a:pt x="28737" y="36285"/>
                      <a:pt x="28737" y="33338"/>
                    </a:cubicBezTo>
                    <a:lnTo>
                      <a:pt x="28737" y="11113"/>
                    </a:lnTo>
                    <a:cubicBezTo>
                      <a:pt x="28737" y="4975"/>
                      <a:pt x="33712" y="0"/>
                      <a:pt x="39849" y="0"/>
                    </a:cubicBezTo>
                    <a:cubicBezTo>
                      <a:pt x="45987" y="0"/>
                      <a:pt x="50962" y="4975"/>
                      <a:pt x="50962" y="11113"/>
                    </a:cubicBezTo>
                    <a:lnTo>
                      <a:pt x="50962" y="28726"/>
                    </a:lnTo>
                    <a:lnTo>
                      <a:pt x="84577" y="62341"/>
                    </a:lnTo>
                    <a:cubicBezTo>
                      <a:pt x="86735" y="45729"/>
                      <a:pt x="100885" y="33299"/>
                      <a:pt x="117637" y="33299"/>
                    </a:cubicBezTo>
                    <a:cubicBezTo>
                      <a:pt x="134388" y="33299"/>
                      <a:pt x="148539" y="45729"/>
                      <a:pt x="150697" y="62341"/>
                    </a:cubicBezTo>
                    <a:lnTo>
                      <a:pt x="184312" y="28715"/>
                    </a:lnTo>
                    <a:lnTo>
                      <a:pt x="184312" y="11113"/>
                    </a:lnTo>
                    <a:cubicBezTo>
                      <a:pt x="184313" y="5479"/>
                      <a:pt x="188529" y="737"/>
                      <a:pt x="194125" y="78"/>
                    </a:cubicBezTo>
                    <a:close/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52094" y="3180398"/>
                <a:ext cx="112235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A37"/>
                    </a:solidFill>
                    <a:latin typeface="Segoe UI"/>
                    <a:ea typeface="Microsoft YaHei"/>
                    <a:cs typeface="Segoe UI"/>
                  </a:rPr>
                  <a:t>数据采集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5142" y="35499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672"/>
                    </a:solidFill>
                    <a:latin typeface="Segoe UI"/>
                    <a:ea typeface="Microsoft YaHei"/>
                    <a:cs typeface="Segoe UI"/>
                  </a:rPr>
                  <a:t>多源房价网页爬取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371850" y="2286000"/>
              <a:ext cx="2609850" cy="1676400"/>
              <a:chOff x="3371850" y="2286000"/>
              <a:chExt cx="2609850" cy="16764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371850" y="2286000"/>
                <a:ext cx="2609850" cy="1676400"/>
              </a:xfrm>
              <a:prstGeom prst="roundRect">
                <a:avLst>
                  <a:gd name="adj" fmla="val 7955"/>
                </a:avLst>
              </a:prstGeom>
              <a:solidFill>
                <a:srgbClr val="F5F8FC"/>
              </a:solidFill>
              <a:ln w="9525">
                <a:solidFill>
                  <a:srgbClr val="D8E2EF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600450" y="2514600"/>
                <a:ext cx="495300" cy="495300"/>
              </a:xfrm>
              <a:prstGeom prst="roundRect">
                <a:avLst>
                  <a:gd name="adj" fmla="val 26923"/>
                </a:avLst>
              </a:prstGeom>
              <a:solidFill>
                <a:srgbClr val="E4F7F4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748088" y="2662238"/>
                <a:ext cx="200030" cy="211700"/>
              </a:xfrm>
              <a:custGeom>
                <a:avLst/>
                <a:gdLst/>
                <a:ahLst/>
                <a:cxnLst/>
                <a:rect l="l" t="t" r="r" b="b"/>
                <a:pathLst>
                  <a:path w="200030" h="211700">
                    <a:moveTo>
                      <a:pt x="188913" y="0"/>
                    </a:moveTo>
                    <a:lnTo>
                      <a:pt x="11113" y="0"/>
                    </a:lnTo>
                    <a:cubicBezTo>
                      <a:pt x="4975" y="0"/>
                      <a:pt x="0" y="4975"/>
                      <a:pt x="0" y="11113"/>
                    </a:cubicBezTo>
                    <a:lnTo>
                      <a:pt x="0" y="35860"/>
                    </a:lnTo>
                    <a:lnTo>
                      <a:pt x="89" y="38338"/>
                    </a:lnTo>
                    <a:cubicBezTo>
                      <a:pt x="642" y="45758"/>
                      <a:pt x="3662" y="52780"/>
                      <a:pt x="8668" y="58285"/>
                    </a:cubicBezTo>
                    <a:lnTo>
                      <a:pt x="55563" y="109858"/>
                    </a:lnTo>
                    <a:lnTo>
                      <a:pt x="55563" y="200026"/>
                    </a:lnTo>
                    <a:cubicBezTo>
                      <a:pt x="55562" y="203598"/>
                      <a:pt x="57278" y="206952"/>
                      <a:pt x="60175" y="209042"/>
                    </a:cubicBezTo>
                    <a:cubicBezTo>
                      <a:pt x="63073" y="211131"/>
                      <a:pt x="66798" y="211700"/>
                      <a:pt x="70187" y="210571"/>
                    </a:cubicBezTo>
                    <a:lnTo>
                      <a:pt x="136862" y="188346"/>
                    </a:lnTo>
                    <a:lnTo>
                      <a:pt x="138062" y="187868"/>
                    </a:lnTo>
                    <a:cubicBezTo>
                      <a:pt x="141969" y="186039"/>
                      <a:pt x="144464" y="182114"/>
                      <a:pt x="144463" y="177801"/>
                    </a:cubicBezTo>
                    <a:lnTo>
                      <a:pt x="144463" y="104613"/>
                    </a:lnTo>
                    <a:lnTo>
                      <a:pt x="190258" y="58830"/>
                    </a:lnTo>
                    <a:cubicBezTo>
                      <a:pt x="196516" y="52574"/>
                      <a:pt x="200030" y="44086"/>
                      <a:pt x="200026" y="35238"/>
                    </a:cubicBezTo>
                    <a:lnTo>
                      <a:pt x="200026" y="11113"/>
                    </a:lnTo>
                    <a:cubicBezTo>
                      <a:pt x="200026" y="4975"/>
                      <a:pt x="195050" y="0"/>
                      <a:pt x="188913" y="0"/>
                    </a:cubicBezTo>
                    <a:close/>
                  </a:path>
                </a:pathLst>
              </a:custGeom>
              <a:solidFill>
                <a:srgbClr val="16B8A6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590544" y="3180398"/>
                <a:ext cx="112235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A37"/>
                    </a:solidFill>
                    <a:latin typeface="Segoe UI"/>
                    <a:ea typeface="Microsoft YaHei"/>
                    <a:cs typeface="Segoe UI"/>
                  </a:rPr>
                  <a:t>数据处理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593592" y="3549968"/>
                <a:ext cx="18856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672"/>
                    </a:solidFill>
                    <a:latin typeface="Segoe UI"/>
                    <a:ea typeface="Microsoft YaHei"/>
                    <a:cs typeface="Segoe UI"/>
                  </a:rPr>
                  <a:t>清洗 · 聚合 · 特征工程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210300" y="2286000"/>
              <a:ext cx="2609850" cy="1676400"/>
              <a:chOff x="6210300" y="2286000"/>
              <a:chExt cx="2609850" cy="1676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210300" y="2286000"/>
                <a:ext cx="2609850" cy="1676400"/>
              </a:xfrm>
              <a:prstGeom prst="roundRect">
                <a:avLst>
                  <a:gd name="adj" fmla="val 7955"/>
                </a:avLst>
              </a:prstGeom>
              <a:solidFill>
                <a:srgbClr val="F5F8FC"/>
              </a:solidFill>
              <a:ln w="9525">
                <a:solidFill>
                  <a:srgbClr val="D8E2EF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438900" y="2514600"/>
                <a:ext cx="495300" cy="495300"/>
              </a:xfrm>
              <a:prstGeom prst="roundRect">
                <a:avLst>
                  <a:gd name="adj" fmla="val 26923"/>
                </a:avLst>
              </a:prstGeom>
              <a:solidFill>
                <a:srgbClr val="EAF3FB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575425" y="2651125"/>
                <a:ext cx="224409" cy="222251"/>
                <a:chOff x="6575425" y="2651125"/>
                <a:chExt cx="224409" cy="222251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6575425" y="2651125"/>
                  <a:ext cx="222251" cy="2222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1" h="222251">
                      <a:moveTo>
                        <a:pt x="11113" y="0"/>
                      </a:moveTo>
                      <a:cubicBezTo>
                        <a:pt x="17250" y="0"/>
                        <a:pt x="22225" y="4975"/>
                        <a:pt x="22225" y="11113"/>
                      </a:cubicBezTo>
                      <a:lnTo>
                        <a:pt x="22225" y="200026"/>
                      </a:lnTo>
                      <a:lnTo>
                        <a:pt x="211138" y="200026"/>
                      </a:lnTo>
                      <a:cubicBezTo>
                        <a:pt x="216772" y="200026"/>
                        <a:pt x="221514" y="204243"/>
                        <a:pt x="222173" y="209838"/>
                      </a:cubicBezTo>
                      <a:lnTo>
                        <a:pt x="222251" y="211138"/>
                      </a:lnTo>
                      <a:cubicBezTo>
                        <a:pt x="222251" y="217275"/>
                        <a:pt x="217275" y="222251"/>
                        <a:pt x="211138" y="222251"/>
                      </a:cubicBezTo>
                      <a:lnTo>
                        <a:pt x="11113" y="222251"/>
                      </a:lnTo>
                      <a:cubicBezTo>
                        <a:pt x="4975" y="222251"/>
                        <a:pt x="0" y="217275"/>
                        <a:pt x="0" y="211138"/>
                      </a:cubicBezTo>
                      <a:lnTo>
                        <a:pt x="0" y="11113"/>
                      </a:lnTo>
                      <a:cubicBezTo>
                        <a:pt x="0" y="4975"/>
                        <a:pt x="4975" y="0"/>
                        <a:pt x="11113" y="0"/>
                      </a:cubicBezTo>
                      <a:close/>
                    </a:path>
                  </a:pathLst>
                </a:custGeom>
                <a:solidFill>
                  <a:srgbClr val="5AA0DC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616230" y="2673350"/>
                  <a:ext cx="183604" cy="158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604" h="158936">
                      <a:moveTo>
                        <a:pt x="148108" y="0"/>
                      </a:moveTo>
                      <a:cubicBezTo>
                        <a:pt x="160873" y="29"/>
                        <a:pt x="172500" y="7344"/>
                        <a:pt x="178052" y="18838"/>
                      </a:cubicBezTo>
                      <a:cubicBezTo>
                        <a:pt x="183604" y="30333"/>
                        <a:pt x="182105" y="43988"/>
                        <a:pt x="174192" y="54004"/>
                      </a:cubicBezTo>
                      <a:cubicBezTo>
                        <a:pt x="166278" y="64020"/>
                        <a:pt x="153340" y="68639"/>
                        <a:pt x="140873" y="65897"/>
                      </a:cubicBezTo>
                      <a:lnTo>
                        <a:pt x="118626" y="101480"/>
                      </a:lnTo>
                      <a:cubicBezTo>
                        <a:pt x="129123" y="114668"/>
                        <a:pt x="128125" y="133617"/>
                        <a:pt x="116299" y="145629"/>
                      </a:cubicBezTo>
                      <a:cubicBezTo>
                        <a:pt x="104474" y="157641"/>
                        <a:pt x="85542" y="158936"/>
                        <a:pt x="72191" y="148646"/>
                      </a:cubicBezTo>
                      <a:cubicBezTo>
                        <a:pt x="58840" y="138356"/>
                        <a:pt x="55271" y="119720"/>
                        <a:pt x="63875" y="105225"/>
                      </a:cubicBezTo>
                      <a:lnTo>
                        <a:pt x="48562" y="86833"/>
                      </a:lnTo>
                      <a:cubicBezTo>
                        <a:pt x="33338" y="92471"/>
                        <a:pt x="16266" y="86322"/>
                        <a:pt x="8133" y="72272"/>
                      </a:cubicBezTo>
                      <a:cubicBezTo>
                        <a:pt x="0" y="58222"/>
                        <a:pt x="3170" y="40357"/>
                        <a:pt x="15640" y="29962"/>
                      </a:cubicBezTo>
                      <a:cubicBezTo>
                        <a:pt x="28110" y="19568"/>
                        <a:pt x="46254" y="19667"/>
                        <a:pt x="58610" y="30197"/>
                      </a:cubicBezTo>
                      <a:cubicBezTo>
                        <a:pt x="70965" y="40728"/>
                        <a:pt x="73939" y="58627"/>
                        <a:pt x="65653" y="72587"/>
                      </a:cubicBezTo>
                      <a:lnTo>
                        <a:pt x="80966" y="90967"/>
                      </a:lnTo>
                      <a:cubicBezTo>
                        <a:pt x="86982" y="88736"/>
                        <a:pt x="93516" y="88292"/>
                        <a:pt x="99779" y="89689"/>
                      </a:cubicBezTo>
                      <a:lnTo>
                        <a:pt x="122027" y="54096"/>
                      </a:lnTo>
                      <a:cubicBezTo>
                        <a:pt x="114057" y="44081"/>
                        <a:pt x="112525" y="30388"/>
                        <a:pt x="118083" y="18859"/>
                      </a:cubicBezTo>
                      <a:cubicBezTo>
                        <a:pt x="123641" y="7331"/>
                        <a:pt x="135309" y="2"/>
                        <a:pt x="148108" y="0"/>
                      </a:cubicBezTo>
                      <a:close/>
                    </a:path>
                  </a:pathLst>
                </a:custGeom>
                <a:solidFill>
                  <a:srgbClr val="5AA0DC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6428994" y="3180398"/>
                <a:ext cx="112235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A37"/>
                    </a:solidFill>
                    <a:latin typeface="Segoe UI"/>
                    <a:ea typeface="Microsoft YaHei"/>
                    <a:cs typeface="Segoe UI"/>
                  </a:rPr>
                  <a:t>机器学习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32042" y="3549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672"/>
                    </a:solidFill>
                    <a:latin typeface="Segoe UI"/>
                    <a:ea typeface="Microsoft YaHei"/>
                    <a:cs typeface="Segoe UI"/>
                  </a:rPr>
                  <a:t>房价预测建模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9048750" y="2286000"/>
              <a:ext cx="2609850" cy="1676400"/>
              <a:chOff x="9048750" y="2286000"/>
              <a:chExt cx="2609850" cy="16764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9048750" y="2286000"/>
                <a:ext cx="2609850" cy="1676400"/>
              </a:xfrm>
              <a:prstGeom prst="roundRect">
                <a:avLst>
                  <a:gd name="adj" fmla="val 7955"/>
                </a:avLst>
              </a:prstGeom>
              <a:solidFill>
                <a:srgbClr val="F5F8FC"/>
              </a:solidFill>
              <a:ln w="9525">
                <a:solidFill>
                  <a:srgbClr val="D8E2EF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9277350" y="2514600"/>
                <a:ext cx="495300" cy="495300"/>
              </a:xfrm>
              <a:prstGeom prst="roundRect">
                <a:avLst>
                  <a:gd name="adj" fmla="val 26923"/>
                </a:avLst>
              </a:prstGeom>
              <a:solidFill>
                <a:srgbClr val="EAF2FB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413875" y="2673350"/>
                <a:ext cx="22225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177801">
                    <a:moveTo>
                      <a:pt x="188913" y="0"/>
                    </a:moveTo>
                    <a:cubicBezTo>
                      <a:pt x="207325" y="0"/>
                      <a:pt x="222251" y="14926"/>
                      <a:pt x="222251" y="33338"/>
                    </a:cubicBezTo>
                    <a:lnTo>
                      <a:pt x="222251" y="144463"/>
                    </a:lnTo>
                    <a:cubicBezTo>
                      <a:pt x="222251" y="162875"/>
                      <a:pt x="207325" y="177801"/>
                      <a:pt x="188913" y="177801"/>
                    </a:cubicBezTo>
                    <a:lnTo>
                      <a:pt x="33338" y="177801"/>
                    </a:lnTo>
                    <a:cubicBezTo>
                      <a:pt x="14926" y="177801"/>
                      <a:pt x="0" y="162875"/>
                      <a:pt x="0" y="144463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close/>
                    <a:moveTo>
                      <a:pt x="44561" y="33338"/>
                    </a:moveTo>
                    <a:lnTo>
                      <a:pt x="43150" y="33415"/>
                    </a:lnTo>
                    <a:cubicBezTo>
                      <a:pt x="37312" y="34110"/>
                      <a:pt x="33024" y="39232"/>
                      <a:pt x="33369" y="45101"/>
                    </a:cubicBezTo>
                    <a:cubicBezTo>
                      <a:pt x="33714" y="50971"/>
                      <a:pt x="38571" y="55556"/>
                      <a:pt x="44450" y="55563"/>
                    </a:cubicBezTo>
                    <a:lnTo>
                      <a:pt x="45861" y="55485"/>
                    </a:lnTo>
                    <a:cubicBezTo>
                      <a:pt x="51700" y="54790"/>
                      <a:pt x="55987" y="49668"/>
                      <a:pt x="55642" y="43799"/>
                    </a:cubicBezTo>
                    <a:cubicBezTo>
                      <a:pt x="55298" y="37929"/>
                      <a:pt x="50441" y="33344"/>
                      <a:pt x="44561" y="33338"/>
                    </a:cubicBezTo>
                    <a:close/>
                    <a:moveTo>
                      <a:pt x="77899" y="33338"/>
                    </a:moveTo>
                    <a:lnTo>
                      <a:pt x="76488" y="33415"/>
                    </a:lnTo>
                    <a:cubicBezTo>
                      <a:pt x="70649" y="34110"/>
                      <a:pt x="66362" y="39232"/>
                      <a:pt x="66707" y="45101"/>
                    </a:cubicBezTo>
                    <a:cubicBezTo>
                      <a:pt x="67051" y="50971"/>
                      <a:pt x="71908" y="55556"/>
                      <a:pt x="77788" y="55563"/>
                    </a:cubicBezTo>
                    <a:lnTo>
                      <a:pt x="79199" y="55485"/>
                    </a:lnTo>
                    <a:cubicBezTo>
                      <a:pt x="85037" y="54790"/>
                      <a:pt x="89325" y="49668"/>
                      <a:pt x="88980" y="43799"/>
                    </a:cubicBezTo>
                    <a:cubicBezTo>
                      <a:pt x="88635" y="37929"/>
                      <a:pt x="83778" y="33344"/>
                      <a:pt x="77899" y="33338"/>
                    </a:cubicBezTo>
                    <a:close/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267444" y="3180398"/>
                <a:ext cx="146611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F2A37"/>
                    </a:solidFill>
                    <a:latin typeface="Segoe UI"/>
                    <a:ea typeface="Microsoft YaHei"/>
                    <a:cs typeface="Segoe UI"/>
                  </a:rPr>
                  <a:t>Web 前后端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270492" y="35499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672"/>
                    </a:solidFill>
                    <a:latin typeface="Segoe UI"/>
                    <a:ea typeface="Microsoft YaHei"/>
                    <a:cs typeface="Segoe UI"/>
                  </a:rPr>
                  <a:t>系统与可视化界面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533400" y="4267200"/>
            <a:ext cx="11125200" cy="2000250"/>
            <a:chOff x="533400" y="4267200"/>
            <a:chExt cx="11125200" cy="2000250"/>
          </a:xfrm>
        </p:grpSpPr>
        <p:sp>
          <p:nvSpPr>
            <p:cNvPr id="37" name="Rectangle 37"/>
            <p:cNvSpPr/>
            <p:nvPr/>
          </p:nvSpPr>
          <p:spPr>
            <a:xfrm>
              <a:off x="533400" y="4267200"/>
              <a:ext cx="11125200" cy="2000250"/>
            </a:xfrm>
            <a:prstGeom prst="roundRect">
              <a:avLst>
                <a:gd name="adj" fmla="val 7619"/>
              </a:avLst>
            </a:prstGeom>
            <a:solidFill>
              <a:srgbClr val="EEF4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8294" y="44757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项目一览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38200" y="4838700"/>
              <a:ext cx="6400800" cy="9525"/>
            </a:xfrm>
            <a:custGeom>
              <a:avLst/>
              <a:gdLst/>
              <a:ahLst/>
              <a:cxnLst/>
              <a:rect l="l" t="t" r="r" b="b"/>
              <a:pathLst>
                <a:path w="6400800" h="9525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w="9525">
              <a:solidFill>
                <a:srgbClr val="D8E2EF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72668" y="5147310"/>
              <a:ext cx="740664" cy="914591"/>
              <a:chOff x="772668" y="5147310"/>
              <a:chExt cx="740664" cy="914591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960690" y="5147310"/>
                <a:ext cx="364621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rgbClr val="1C6DBE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72668" y="57978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B6672"/>
                    </a:solidFill>
                    <a:latin typeface="Segoe UI"/>
                    <a:ea typeface="Microsoft YaHei"/>
                    <a:cs typeface="Segoe UI"/>
                  </a:rPr>
                  <a:t>功能层级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2362200" y="51435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E2EF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3249168" y="5147310"/>
              <a:ext cx="740664" cy="914591"/>
              <a:chOff x="3249168" y="5147310"/>
              <a:chExt cx="740664" cy="914591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3437190" y="5147310"/>
                <a:ext cx="364621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rgbClr val="16B8A6"/>
                    </a:solidFill>
                    <a:latin typeface="Segoe UI"/>
                    <a:ea typeface="Segoe UI"/>
                    <a:cs typeface="Segoe UI"/>
                  </a:rPr>
                  <a:t>7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249168" y="57978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B6672"/>
                    </a:solidFill>
                    <a:latin typeface="Segoe UI"/>
                    <a:ea typeface="Microsoft YaHei"/>
                    <a:cs typeface="Segoe UI"/>
                  </a:rPr>
                  <a:t>核心功能</a:t>
                </a:r>
              </a:p>
            </p:txBody>
          </p:sp>
        </p:grpSp>
        <p:sp>
          <p:nvSpPr>
            <p:cNvPr id="47" name="Line 47"/>
            <p:cNvSpPr/>
            <p:nvPr/>
          </p:nvSpPr>
          <p:spPr>
            <a:xfrm>
              <a:off x="4838700" y="51435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E2EF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5634799" y="5147310"/>
              <a:ext cx="922401" cy="914591"/>
              <a:chOff x="5634799" y="5147310"/>
              <a:chExt cx="922401" cy="914591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5913690" y="5147310"/>
                <a:ext cx="364621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rgbClr val="5AA0DC"/>
                    </a:solidFill>
                    <a:latin typeface="Segoe UI"/>
                    <a:ea typeface="Segoe UI"/>
                    <a:cs typeface="Segoe UI"/>
                  </a:rPr>
                  <a:t>4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634799" y="57978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B6672"/>
                    </a:solidFill>
                    <a:latin typeface="Segoe UI"/>
                    <a:ea typeface="Microsoft YaHei"/>
                    <a:cs typeface="Segoe UI"/>
                  </a:rPr>
                  <a:t>系统架构层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7543800" y="462915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9525">
              <a:solidFill>
                <a:srgbClr val="D8E2EF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924800" y="4762500"/>
              <a:ext cx="3448050" cy="914400"/>
              <a:chOff x="7924800" y="4762500"/>
              <a:chExt cx="3448050" cy="914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7924800" y="4762500"/>
                <a:ext cx="123825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D8E2EF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357225" y="4864418"/>
                <a:ext cx="373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6DBE"/>
                    </a:solidFill>
                    <a:latin typeface="Segoe UI"/>
                    <a:ea typeface="Segoe UI"/>
                    <a:cs typeface="Segoe UI"/>
                  </a:rPr>
                  <a:t>Web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9315450" y="4762500"/>
                <a:ext cx="20574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D8E2EF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955644" y="486441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C6DBE"/>
                    </a:solidFill>
                    <a:latin typeface="Segoe UI"/>
                    <a:ea typeface="Microsoft YaHei"/>
                    <a:cs typeface="Segoe UI"/>
                  </a:rPr>
                  <a:t>网络爬虫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7924800" y="5295900"/>
                <a:ext cx="344805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9525">
                <a:solidFill>
                  <a:srgbClr val="D8E2EF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387300" y="5397818"/>
                <a:ext cx="25230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6B8A6"/>
                    </a:solidFill>
                    <a:latin typeface="Segoe UI"/>
                    <a:ea typeface="Microsoft YaHei"/>
                    <a:cs typeface="Segoe UI"/>
                  </a:rPr>
                  <a:t>数据分析 · 当前：开发进行中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734300" y="914400"/>
            <a:ext cx="3924300" cy="5029200"/>
            <a:chOff x="7734300" y="914400"/>
            <a:chExt cx="3924300" cy="50292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23985" t="0" r="23985" b="0"/>
            <a:stretch>
              <a:fillRect/>
            </a:stretch>
          </p:blipFill>
          <p:spPr>
            <a:xfrm>
              <a:off x="7734300" y="914400"/>
              <a:ext cx="3924300" cy="5029200"/>
            </a:xfrm>
            <a:prstGeom prst="roundRect">
              <a:avLst>
                <a:gd name="adj" fmla="val 3883"/>
              </a:avLst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7734300" y="914400"/>
              <a:ext cx="3924300" cy="50292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8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734300" y="914400"/>
              <a:ext cx="3924300" cy="5029200"/>
            </a:xfrm>
            <a:prstGeom prst="roundRect">
              <a:avLst>
                <a:gd name="adj" fmla="val 3883"/>
              </a:avLst>
            </a:prstGeom>
            <a:noFill/>
            <a:ln w="9525">
              <a:solidFill>
                <a:srgbClr val="D8E2E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99244" y="560451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FFFFFF">
                      <a:alphaMod val="90000"/>
                    </a:srgbClr>
                  </a:solidFill>
                  <a:latin typeface="Segoe UI"/>
                  <a:ea typeface="Microsoft YaHei"/>
                  <a:cs typeface="Segoe UI"/>
                </a:rPr>
                <a:t>城市住宅 · 房价的真实载体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857250"/>
            <a:ext cx="4697159" cy="637985"/>
            <a:chOff x="533400" y="857250"/>
            <a:chExt cx="4697159" cy="637985"/>
          </a:xfrm>
        </p:grpSpPr>
        <p:sp>
          <p:nvSpPr>
            <p:cNvPr id="8" name="Rectangle 8"/>
            <p:cNvSpPr/>
            <p:nvPr/>
          </p:nvSpPr>
          <p:spPr>
            <a:xfrm>
              <a:off x="533400" y="857250"/>
              <a:ext cx="76200" cy="438150"/>
            </a:xfrm>
            <a:prstGeom prst="roundRect">
              <a:avLst>
                <a:gd name="adj" fmla="val 50000"/>
              </a:avLst>
            </a:prstGeom>
            <a:solidFill>
              <a:srgbClr val="E457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5998" y="879158"/>
              <a:ext cx="44845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房价看得见，却看不懂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1332" y="1564005"/>
            <a:ext cx="6650698" cy="772668"/>
            <a:chOff x="751332" y="1564005"/>
            <a:chExt cx="6650698" cy="772668"/>
          </a:xfrm>
        </p:grpSpPr>
        <p:sp>
          <p:nvSpPr>
            <p:cNvPr id="11" name="TextBox 11"/>
            <p:cNvSpPr txBox="1"/>
            <p:nvPr/>
          </p:nvSpPr>
          <p:spPr>
            <a:xfrm>
              <a:off x="751332" y="156400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房价信息散落在政府土地局、中介、房企与城建等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1925955"/>
              <a:ext cx="66506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多个来源，口径不一——普通购房者</a:t>
              </a:r>
              <a:r>
                <a:rPr lang="zh-CN" sz="2100" b="1" dirty="0">
                  <a:solidFill>
                    <a:srgbClr val="E4572E"/>
                  </a:solidFill>
                  <a:latin typeface="Segoe UI"/>
                  <a:ea typeface="Microsoft YaHei"/>
                  <a:cs typeface="Segoe UI"/>
                </a:rPr>
                <a:t>难看懂、难预判</a:t>
              </a:r>
              <a:r>
                <a:rPr lang="zh-CN" sz="210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2685098"/>
            <a:ext cx="6324600" cy="810577"/>
            <a:chOff x="762000" y="2685098"/>
            <a:chExt cx="6324600" cy="810577"/>
          </a:xfrm>
        </p:grpSpPr>
        <p:sp>
          <p:nvSpPr>
            <p:cNvPr id="14" name="Freeform 14"/>
            <p:cNvSpPr/>
            <p:nvPr/>
          </p:nvSpPr>
          <p:spPr>
            <a:xfrm>
              <a:off x="774263" y="2767060"/>
              <a:ext cx="318208" cy="276120"/>
            </a:xfrm>
            <a:custGeom>
              <a:avLst/>
              <a:gdLst/>
              <a:ahLst/>
              <a:cxnLst/>
              <a:rect l="l" t="t" r="r" b="b"/>
              <a:pathLst>
                <a:path w="318208" h="276120">
                  <a:moveTo>
                    <a:pt x="159187" y="0"/>
                  </a:moveTo>
                  <a:cubicBezTo>
                    <a:pt x="172832" y="0"/>
                    <a:pt x="185547" y="6672"/>
                    <a:pt x="193334" y="17817"/>
                  </a:cubicBezTo>
                  <a:lnTo>
                    <a:pt x="194834" y="20103"/>
                  </a:lnTo>
                  <a:lnTo>
                    <a:pt x="310763" y="213670"/>
                  </a:lnTo>
                  <a:cubicBezTo>
                    <a:pt x="317925" y="226073"/>
                    <a:pt x="318208" y="241287"/>
                    <a:pt x="311513" y="253949"/>
                  </a:cubicBezTo>
                  <a:cubicBezTo>
                    <a:pt x="304818" y="266610"/>
                    <a:pt x="292085" y="274941"/>
                    <a:pt x="277802" y="276006"/>
                  </a:cubicBezTo>
                  <a:lnTo>
                    <a:pt x="275016" y="276120"/>
                  </a:lnTo>
                  <a:lnTo>
                    <a:pt x="43201" y="276120"/>
                  </a:lnTo>
                  <a:cubicBezTo>
                    <a:pt x="28904" y="275959"/>
                    <a:pt x="15690" y="268473"/>
                    <a:pt x="8202" y="256293"/>
                  </a:cubicBezTo>
                  <a:cubicBezTo>
                    <a:pt x="714" y="244113"/>
                    <a:pt x="0" y="228942"/>
                    <a:pt x="6311" y="216113"/>
                  </a:cubicBezTo>
                  <a:lnTo>
                    <a:pt x="7725" y="213470"/>
                  </a:lnTo>
                  <a:lnTo>
                    <a:pt x="123597" y="20045"/>
                  </a:lnTo>
                  <a:cubicBezTo>
                    <a:pt x="131142" y="7603"/>
                    <a:pt x="144636" y="3"/>
                    <a:pt x="159187" y="0"/>
                  </a:cubicBezTo>
                  <a:close/>
                  <a:moveTo>
                    <a:pt x="159330" y="190452"/>
                  </a:moveTo>
                  <a:lnTo>
                    <a:pt x="157515" y="190552"/>
                  </a:lnTo>
                  <a:cubicBezTo>
                    <a:pt x="150328" y="191407"/>
                    <a:pt x="144915" y="197502"/>
                    <a:pt x="144915" y="204740"/>
                  </a:cubicBezTo>
                  <a:cubicBezTo>
                    <a:pt x="144915" y="211978"/>
                    <a:pt x="150328" y="218072"/>
                    <a:pt x="157515" y="218927"/>
                  </a:cubicBezTo>
                  <a:lnTo>
                    <a:pt x="159187" y="219027"/>
                  </a:lnTo>
                  <a:lnTo>
                    <a:pt x="161002" y="218927"/>
                  </a:lnTo>
                  <a:cubicBezTo>
                    <a:pt x="168189" y="218072"/>
                    <a:pt x="173601" y="211978"/>
                    <a:pt x="173601" y="204740"/>
                  </a:cubicBezTo>
                  <a:cubicBezTo>
                    <a:pt x="173601" y="197502"/>
                    <a:pt x="168189" y="191407"/>
                    <a:pt x="161002" y="190552"/>
                  </a:cubicBezTo>
                  <a:lnTo>
                    <a:pt x="159330" y="190452"/>
                  </a:lnTo>
                  <a:close/>
                  <a:moveTo>
                    <a:pt x="159187" y="90440"/>
                  </a:moveTo>
                  <a:cubicBezTo>
                    <a:pt x="151944" y="90441"/>
                    <a:pt x="145847" y="95862"/>
                    <a:pt x="145000" y="103056"/>
                  </a:cubicBezTo>
                  <a:lnTo>
                    <a:pt x="144900" y="104727"/>
                  </a:lnTo>
                  <a:lnTo>
                    <a:pt x="144900" y="161877"/>
                  </a:lnTo>
                  <a:lnTo>
                    <a:pt x="145000" y="163549"/>
                  </a:lnTo>
                  <a:cubicBezTo>
                    <a:pt x="145854" y="170736"/>
                    <a:pt x="151949" y="176149"/>
                    <a:pt x="159187" y="176149"/>
                  </a:cubicBezTo>
                  <a:cubicBezTo>
                    <a:pt x="166425" y="176149"/>
                    <a:pt x="172520" y="170736"/>
                    <a:pt x="173375" y="163549"/>
                  </a:cubicBezTo>
                  <a:lnTo>
                    <a:pt x="173475" y="161877"/>
                  </a:lnTo>
                  <a:lnTo>
                    <a:pt x="173475" y="104727"/>
                  </a:lnTo>
                  <a:lnTo>
                    <a:pt x="173375" y="103056"/>
                  </a:lnTo>
                  <a:cubicBezTo>
                    <a:pt x="172527" y="95862"/>
                    <a:pt x="166430" y="90441"/>
                    <a:pt x="159187" y="90440"/>
                  </a:cubicBezTo>
                  <a:close/>
                </a:path>
              </a:pathLst>
            </a:custGeom>
            <a:solidFill>
              <a:srgbClr val="E4572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47394" y="26850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数据分散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48918" y="304133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来源多、口径乱，只能一个个网站手动查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348615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rgbClr val="EDF1F6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62000" y="3732848"/>
            <a:ext cx="6324600" cy="810577"/>
            <a:chOff x="762000" y="3732848"/>
            <a:chExt cx="6324600" cy="810577"/>
          </a:xfrm>
        </p:grpSpPr>
        <p:sp>
          <p:nvSpPr>
            <p:cNvPr id="19" name="Freeform 19"/>
            <p:cNvSpPr/>
            <p:nvPr/>
          </p:nvSpPr>
          <p:spPr>
            <a:xfrm>
              <a:off x="774263" y="3814810"/>
              <a:ext cx="318208" cy="276120"/>
            </a:xfrm>
            <a:custGeom>
              <a:avLst/>
              <a:gdLst/>
              <a:ahLst/>
              <a:cxnLst/>
              <a:rect l="l" t="t" r="r" b="b"/>
              <a:pathLst>
                <a:path w="318208" h="276120">
                  <a:moveTo>
                    <a:pt x="159187" y="0"/>
                  </a:moveTo>
                  <a:cubicBezTo>
                    <a:pt x="172832" y="0"/>
                    <a:pt x="185547" y="6672"/>
                    <a:pt x="193334" y="17817"/>
                  </a:cubicBezTo>
                  <a:lnTo>
                    <a:pt x="194834" y="20103"/>
                  </a:lnTo>
                  <a:lnTo>
                    <a:pt x="310763" y="213670"/>
                  </a:lnTo>
                  <a:cubicBezTo>
                    <a:pt x="317925" y="226073"/>
                    <a:pt x="318208" y="241287"/>
                    <a:pt x="311513" y="253949"/>
                  </a:cubicBezTo>
                  <a:cubicBezTo>
                    <a:pt x="304818" y="266610"/>
                    <a:pt x="292085" y="274941"/>
                    <a:pt x="277802" y="276006"/>
                  </a:cubicBezTo>
                  <a:lnTo>
                    <a:pt x="275016" y="276120"/>
                  </a:lnTo>
                  <a:lnTo>
                    <a:pt x="43201" y="276120"/>
                  </a:lnTo>
                  <a:cubicBezTo>
                    <a:pt x="28904" y="275959"/>
                    <a:pt x="15690" y="268473"/>
                    <a:pt x="8202" y="256293"/>
                  </a:cubicBezTo>
                  <a:cubicBezTo>
                    <a:pt x="714" y="244113"/>
                    <a:pt x="0" y="228942"/>
                    <a:pt x="6311" y="216113"/>
                  </a:cubicBezTo>
                  <a:lnTo>
                    <a:pt x="7725" y="213470"/>
                  </a:lnTo>
                  <a:lnTo>
                    <a:pt x="123597" y="20045"/>
                  </a:lnTo>
                  <a:cubicBezTo>
                    <a:pt x="131142" y="7603"/>
                    <a:pt x="144636" y="3"/>
                    <a:pt x="159187" y="0"/>
                  </a:cubicBezTo>
                  <a:close/>
                  <a:moveTo>
                    <a:pt x="159330" y="190452"/>
                  </a:moveTo>
                  <a:lnTo>
                    <a:pt x="157515" y="190552"/>
                  </a:lnTo>
                  <a:cubicBezTo>
                    <a:pt x="150328" y="191407"/>
                    <a:pt x="144915" y="197502"/>
                    <a:pt x="144915" y="204740"/>
                  </a:cubicBezTo>
                  <a:cubicBezTo>
                    <a:pt x="144915" y="211978"/>
                    <a:pt x="150328" y="218072"/>
                    <a:pt x="157515" y="218927"/>
                  </a:cubicBezTo>
                  <a:lnTo>
                    <a:pt x="159187" y="219027"/>
                  </a:lnTo>
                  <a:lnTo>
                    <a:pt x="161002" y="218927"/>
                  </a:lnTo>
                  <a:cubicBezTo>
                    <a:pt x="168189" y="218072"/>
                    <a:pt x="173601" y="211978"/>
                    <a:pt x="173601" y="204740"/>
                  </a:cubicBezTo>
                  <a:cubicBezTo>
                    <a:pt x="173601" y="197502"/>
                    <a:pt x="168189" y="191407"/>
                    <a:pt x="161002" y="190552"/>
                  </a:cubicBezTo>
                  <a:lnTo>
                    <a:pt x="159330" y="190452"/>
                  </a:lnTo>
                  <a:close/>
                  <a:moveTo>
                    <a:pt x="159187" y="90440"/>
                  </a:moveTo>
                  <a:cubicBezTo>
                    <a:pt x="151944" y="90441"/>
                    <a:pt x="145847" y="95862"/>
                    <a:pt x="145000" y="103056"/>
                  </a:cubicBezTo>
                  <a:lnTo>
                    <a:pt x="144900" y="104727"/>
                  </a:lnTo>
                  <a:lnTo>
                    <a:pt x="144900" y="161877"/>
                  </a:lnTo>
                  <a:lnTo>
                    <a:pt x="145000" y="163549"/>
                  </a:lnTo>
                  <a:cubicBezTo>
                    <a:pt x="145854" y="170736"/>
                    <a:pt x="151949" y="176149"/>
                    <a:pt x="159187" y="176149"/>
                  </a:cubicBezTo>
                  <a:cubicBezTo>
                    <a:pt x="166425" y="176149"/>
                    <a:pt x="172520" y="170736"/>
                    <a:pt x="173375" y="163549"/>
                  </a:cubicBezTo>
                  <a:lnTo>
                    <a:pt x="173475" y="161877"/>
                  </a:lnTo>
                  <a:lnTo>
                    <a:pt x="173475" y="104727"/>
                  </a:lnTo>
                  <a:lnTo>
                    <a:pt x="173375" y="103056"/>
                  </a:lnTo>
                  <a:cubicBezTo>
                    <a:pt x="172527" y="95862"/>
                    <a:pt x="166430" y="90441"/>
                    <a:pt x="159187" y="90440"/>
                  </a:cubicBezTo>
                  <a:close/>
                </a:path>
              </a:pathLst>
            </a:custGeom>
            <a:solidFill>
              <a:srgbClr val="E4572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47394" y="37328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难以横向对比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48918" y="408908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不同城市 / 区域 / 楼盘品牌之间比不清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453390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9525">
              <a:solidFill>
                <a:srgbClr val="EDF1F6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74263" y="4780598"/>
            <a:ext cx="4045387" cy="678941"/>
            <a:chOff x="774263" y="4780598"/>
            <a:chExt cx="4045387" cy="678941"/>
          </a:xfrm>
        </p:grpSpPr>
        <p:sp>
          <p:nvSpPr>
            <p:cNvPr id="24" name="Freeform 24"/>
            <p:cNvSpPr/>
            <p:nvPr/>
          </p:nvSpPr>
          <p:spPr>
            <a:xfrm>
              <a:off x="774263" y="4862560"/>
              <a:ext cx="318208" cy="276120"/>
            </a:xfrm>
            <a:custGeom>
              <a:avLst/>
              <a:gdLst/>
              <a:ahLst/>
              <a:cxnLst/>
              <a:rect l="l" t="t" r="r" b="b"/>
              <a:pathLst>
                <a:path w="318208" h="276120">
                  <a:moveTo>
                    <a:pt x="159187" y="0"/>
                  </a:moveTo>
                  <a:cubicBezTo>
                    <a:pt x="172832" y="0"/>
                    <a:pt x="185547" y="6672"/>
                    <a:pt x="193334" y="17817"/>
                  </a:cubicBezTo>
                  <a:lnTo>
                    <a:pt x="194834" y="20103"/>
                  </a:lnTo>
                  <a:lnTo>
                    <a:pt x="310763" y="213670"/>
                  </a:lnTo>
                  <a:cubicBezTo>
                    <a:pt x="317925" y="226073"/>
                    <a:pt x="318208" y="241287"/>
                    <a:pt x="311513" y="253949"/>
                  </a:cubicBezTo>
                  <a:cubicBezTo>
                    <a:pt x="304818" y="266610"/>
                    <a:pt x="292085" y="274941"/>
                    <a:pt x="277802" y="276006"/>
                  </a:cubicBezTo>
                  <a:lnTo>
                    <a:pt x="275016" y="276120"/>
                  </a:lnTo>
                  <a:lnTo>
                    <a:pt x="43201" y="276120"/>
                  </a:lnTo>
                  <a:cubicBezTo>
                    <a:pt x="28904" y="275959"/>
                    <a:pt x="15690" y="268473"/>
                    <a:pt x="8202" y="256293"/>
                  </a:cubicBezTo>
                  <a:cubicBezTo>
                    <a:pt x="714" y="244113"/>
                    <a:pt x="0" y="228942"/>
                    <a:pt x="6311" y="216113"/>
                  </a:cubicBezTo>
                  <a:lnTo>
                    <a:pt x="7725" y="213470"/>
                  </a:lnTo>
                  <a:lnTo>
                    <a:pt x="123597" y="20045"/>
                  </a:lnTo>
                  <a:cubicBezTo>
                    <a:pt x="131142" y="7603"/>
                    <a:pt x="144636" y="3"/>
                    <a:pt x="159187" y="0"/>
                  </a:cubicBezTo>
                  <a:close/>
                  <a:moveTo>
                    <a:pt x="159330" y="190452"/>
                  </a:moveTo>
                  <a:lnTo>
                    <a:pt x="157515" y="190552"/>
                  </a:lnTo>
                  <a:cubicBezTo>
                    <a:pt x="150328" y="191407"/>
                    <a:pt x="144915" y="197502"/>
                    <a:pt x="144915" y="204740"/>
                  </a:cubicBezTo>
                  <a:cubicBezTo>
                    <a:pt x="144915" y="211978"/>
                    <a:pt x="150328" y="218072"/>
                    <a:pt x="157515" y="218927"/>
                  </a:cubicBezTo>
                  <a:lnTo>
                    <a:pt x="159187" y="219027"/>
                  </a:lnTo>
                  <a:lnTo>
                    <a:pt x="161002" y="218927"/>
                  </a:lnTo>
                  <a:cubicBezTo>
                    <a:pt x="168189" y="218072"/>
                    <a:pt x="173601" y="211978"/>
                    <a:pt x="173601" y="204740"/>
                  </a:cubicBezTo>
                  <a:cubicBezTo>
                    <a:pt x="173601" y="197502"/>
                    <a:pt x="168189" y="191407"/>
                    <a:pt x="161002" y="190552"/>
                  </a:cubicBezTo>
                  <a:lnTo>
                    <a:pt x="159330" y="190452"/>
                  </a:lnTo>
                  <a:close/>
                  <a:moveTo>
                    <a:pt x="159187" y="90440"/>
                  </a:moveTo>
                  <a:cubicBezTo>
                    <a:pt x="151944" y="90441"/>
                    <a:pt x="145847" y="95862"/>
                    <a:pt x="145000" y="103056"/>
                  </a:cubicBezTo>
                  <a:lnTo>
                    <a:pt x="144900" y="104727"/>
                  </a:lnTo>
                  <a:lnTo>
                    <a:pt x="144900" y="161877"/>
                  </a:lnTo>
                  <a:lnTo>
                    <a:pt x="145000" y="163549"/>
                  </a:lnTo>
                  <a:cubicBezTo>
                    <a:pt x="145854" y="170736"/>
                    <a:pt x="151949" y="176149"/>
                    <a:pt x="159187" y="176149"/>
                  </a:cubicBezTo>
                  <a:cubicBezTo>
                    <a:pt x="166425" y="176149"/>
                    <a:pt x="172520" y="170736"/>
                    <a:pt x="173375" y="163549"/>
                  </a:cubicBezTo>
                  <a:lnTo>
                    <a:pt x="173475" y="161877"/>
                  </a:lnTo>
                  <a:lnTo>
                    <a:pt x="173475" y="104727"/>
                  </a:lnTo>
                  <a:lnTo>
                    <a:pt x="173375" y="103056"/>
                  </a:lnTo>
                  <a:cubicBezTo>
                    <a:pt x="172527" y="95862"/>
                    <a:pt x="166430" y="90441"/>
                    <a:pt x="159187" y="90440"/>
                  </a:cubicBezTo>
                  <a:close/>
                </a:path>
              </a:pathLst>
            </a:custGeom>
            <a:solidFill>
              <a:srgbClr val="E4572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47394" y="478059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只见当下，不见未来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48918" y="513683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缺走势与预测，买卖全凭『拍脑袋』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55904" y="6271260"/>
            <a:ext cx="33157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0"/>
                </a:solidFill>
                <a:latin typeface="Segoe UI"/>
                <a:ea typeface="Microsoft YaHei"/>
                <a:cs typeface="Segoe UI"/>
              </a:rPr>
              <a:t>城市房价分析系统 · 产品发布 | 01 背景与痛点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3400" y="476250"/>
            <a:ext cx="7961273" cy="1434084"/>
            <a:chOff x="533400" y="476250"/>
            <a:chExt cx="7961273" cy="1434084"/>
          </a:xfrm>
        </p:grpSpPr>
        <p:sp>
          <p:nvSpPr>
            <p:cNvPr id="3" name="Rectangle 3"/>
            <p:cNvSpPr/>
            <p:nvPr/>
          </p:nvSpPr>
          <p:spPr>
            <a:xfrm>
              <a:off x="533400" y="476250"/>
              <a:ext cx="76200" cy="43815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498158"/>
              <a:ext cx="50633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看得懂</a:t>
              </a:r>
              <a:r>
                <a:rPr lang="en-US" sz="3150" b="1" dirty="0">
                  <a:solidFill>
                    <a:srgbClr val="1F2A37"/>
                  </a:solidFill>
                  <a:latin typeface="Segoe UI"/>
                  <a:ea typeface="Segoe UI"/>
                  <a:cs typeface="Segoe UI"/>
                </a:rPr>
                <a:t xml:space="preserve"> · </a:t>
              </a:r>
              <a:r>
                <a:rPr lang="zh-CN" sz="3150" b="1" dirty="0">
                  <a:solidFill>
                    <a:srgbClr val="16B8A6"/>
                  </a:solidFill>
                  <a:latin typeface="Segoe UI"/>
                  <a:ea typeface="Microsoft YaHei"/>
                  <a:cs typeface="Segoe UI"/>
                </a:rPr>
                <a:t>比得清</a:t>
              </a:r>
              <a:r>
                <a:rPr lang="en-US" sz="3150" b="1" dirty="0">
                  <a:solidFill>
                    <a:srgbClr val="1F2A37"/>
                  </a:solidFill>
                  <a:latin typeface="Segoe UI"/>
                  <a:ea typeface="Segoe UI"/>
                  <a:cs typeface="Segoe UI"/>
                </a:rPr>
                <a:t xml:space="preserve"> · </a:t>
              </a:r>
              <a:r>
                <a:rPr lang="zh-CN" sz="3150" b="1" dirty="0">
                  <a:solidFill>
                    <a:srgbClr val="5AA0DC"/>
                  </a:solidFill>
                  <a:latin typeface="Segoe UI"/>
                  <a:ea typeface="Microsoft YaHei"/>
                  <a:cs typeface="Segoe UI"/>
                </a:rPr>
                <a:t>算得准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1332" y="1163955"/>
              <a:ext cx="77433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 xml:space="preserve">城市房价分析系统 = </a:t>
              </a:r>
              <a:r>
                <a:rPr lang="zh-CN" sz="210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多源采集 + 可视化分析 + 机器学习预测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2856" y="15582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把原始网页数据，变成可交互、可预测的房价洞察。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17042" y="2247900"/>
            <a:ext cx="3550158" cy="4042601"/>
            <a:chOff x="717042" y="2247900"/>
            <a:chExt cx="3550158" cy="4042601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247900"/>
              <a:ext cx="3543300" cy="3657600"/>
            </a:xfrm>
            <a:prstGeom prst="roundRect">
              <a:avLst>
                <a:gd name="adj" fmla="val 3763"/>
              </a:avLst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23900" y="2247900"/>
              <a:ext cx="3543300" cy="3657600"/>
            </a:xfrm>
            <a:prstGeom prst="roundRect">
              <a:avLst>
                <a:gd name="adj" fmla="val 3763"/>
              </a:avLst>
            </a:prstGeom>
            <a:noFill/>
            <a:ln w="14288">
              <a:solidFill>
                <a:srgbClr val="D8E2E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3900" y="2247900"/>
              <a:ext cx="1676400" cy="323850"/>
            </a:xfrm>
            <a:prstGeom prst="rect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204" y="23469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产品总用例图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7042" y="60264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0"/>
                  </a:solidFill>
                  <a:latin typeface="Segoe UI"/>
                  <a:ea typeface="Microsoft YaHei"/>
                  <a:cs typeface="Segoe UI"/>
                </a:rPr>
                <a:t>系统整体功能用例范围（项目自带）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876800" y="2400300"/>
            <a:ext cx="6781800" cy="1000125"/>
            <a:chOff x="4876800" y="2400300"/>
            <a:chExt cx="6781800" cy="1000125"/>
          </a:xfrm>
        </p:grpSpPr>
        <p:sp>
          <p:nvSpPr>
            <p:cNvPr id="14" name="Rectangle 14"/>
            <p:cNvSpPr/>
            <p:nvPr/>
          </p:nvSpPr>
          <p:spPr>
            <a:xfrm>
              <a:off x="4876800" y="240030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060947" y="2559050"/>
              <a:ext cx="203205" cy="253999"/>
            </a:xfrm>
            <a:custGeom>
              <a:avLst/>
              <a:gdLst/>
              <a:ahLst/>
              <a:cxnLst/>
              <a:rect l="l" t="t" r="r" b="b"/>
              <a:pathLst>
                <a:path w="203205" h="253999">
                  <a:moveTo>
                    <a:pt x="177764" y="27559"/>
                  </a:moveTo>
                  <a:cubicBezTo>
                    <a:pt x="193009" y="32931"/>
                    <a:pt x="203205" y="47337"/>
                    <a:pt x="203202" y="63500"/>
                  </a:cubicBezTo>
                  <a:lnTo>
                    <a:pt x="203202" y="215899"/>
                  </a:lnTo>
                  <a:cubicBezTo>
                    <a:pt x="203202" y="236941"/>
                    <a:pt x="186144" y="253999"/>
                    <a:pt x="165102" y="253999"/>
                  </a:cubicBezTo>
                  <a:lnTo>
                    <a:pt x="38103" y="253999"/>
                  </a:lnTo>
                  <a:cubicBezTo>
                    <a:pt x="17061" y="253999"/>
                    <a:pt x="3" y="236941"/>
                    <a:pt x="3" y="215899"/>
                  </a:cubicBezTo>
                  <a:lnTo>
                    <a:pt x="3" y="63500"/>
                  </a:lnTo>
                  <a:cubicBezTo>
                    <a:pt x="0" y="47337"/>
                    <a:pt x="10196" y="32931"/>
                    <a:pt x="25441" y="27559"/>
                  </a:cubicBezTo>
                  <a:cubicBezTo>
                    <a:pt x="26598" y="54754"/>
                    <a:pt x="48983" y="76204"/>
                    <a:pt x="76203" y="76200"/>
                  </a:cubicBezTo>
                  <a:lnTo>
                    <a:pt x="127002" y="76200"/>
                  </a:lnTo>
                  <a:cubicBezTo>
                    <a:pt x="153078" y="76202"/>
                    <a:pt x="174921" y="56461"/>
                    <a:pt x="177548" y="30518"/>
                  </a:cubicBezTo>
                  <a:close/>
                  <a:moveTo>
                    <a:pt x="63503" y="114300"/>
                  </a:moveTo>
                  <a:cubicBezTo>
                    <a:pt x="56489" y="114300"/>
                    <a:pt x="50803" y="119986"/>
                    <a:pt x="50803" y="127000"/>
                  </a:cubicBezTo>
                  <a:lnTo>
                    <a:pt x="50803" y="190500"/>
                  </a:lnTo>
                  <a:cubicBezTo>
                    <a:pt x="50803" y="197514"/>
                    <a:pt x="56489" y="203199"/>
                    <a:pt x="63503" y="203199"/>
                  </a:cubicBezTo>
                  <a:cubicBezTo>
                    <a:pt x="70517" y="203199"/>
                    <a:pt x="76203" y="197514"/>
                    <a:pt x="76203" y="190500"/>
                  </a:cubicBezTo>
                  <a:lnTo>
                    <a:pt x="76203" y="127000"/>
                  </a:lnTo>
                  <a:cubicBezTo>
                    <a:pt x="76203" y="119986"/>
                    <a:pt x="70517" y="114300"/>
                    <a:pt x="63503" y="114300"/>
                  </a:cubicBezTo>
                  <a:moveTo>
                    <a:pt x="101603" y="165100"/>
                  </a:moveTo>
                  <a:cubicBezTo>
                    <a:pt x="94589" y="165100"/>
                    <a:pt x="88903" y="170786"/>
                    <a:pt x="88903" y="177800"/>
                  </a:cubicBezTo>
                  <a:lnTo>
                    <a:pt x="88903" y="190500"/>
                  </a:lnTo>
                  <a:cubicBezTo>
                    <a:pt x="88903" y="197514"/>
                    <a:pt x="94589" y="203199"/>
                    <a:pt x="101603" y="203199"/>
                  </a:cubicBezTo>
                  <a:cubicBezTo>
                    <a:pt x="108617" y="203199"/>
                    <a:pt x="114302" y="197514"/>
                    <a:pt x="114302" y="190500"/>
                  </a:cubicBezTo>
                  <a:lnTo>
                    <a:pt x="114302" y="177800"/>
                  </a:lnTo>
                  <a:cubicBezTo>
                    <a:pt x="114302" y="170786"/>
                    <a:pt x="108617" y="165100"/>
                    <a:pt x="101603" y="165100"/>
                  </a:cubicBezTo>
                  <a:moveTo>
                    <a:pt x="139702" y="139700"/>
                  </a:moveTo>
                  <a:cubicBezTo>
                    <a:pt x="132688" y="139700"/>
                    <a:pt x="127002" y="145386"/>
                    <a:pt x="127002" y="152400"/>
                  </a:cubicBezTo>
                  <a:lnTo>
                    <a:pt x="127002" y="190500"/>
                  </a:lnTo>
                  <a:cubicBezTo>
                    <a:pt x="127002" y="197514"/>
                    <a:pt x="132688" y="203199"/>
                    <a:pt x="139702" y="203199"/>
                  </a:cubicBezTo>
                  <a:cubicBezTo>
                    <a:pt x="146716" y="203199"/>
                    <a:pt x="152402" y="197514"/>
                    <a:pt x="152402" y="190500"/>
                  </a:cubicBezTo>
                  <a:lnTo>
                    <a:pt x="152402" y="152400"/>
                  </a:lnTo>
                  <a:cubicBezTo>
                    <a:pt x="152402" y="145386"/>
                    <a:pt x="146716" y="139700"/>
                    <a:pt x="139702" y="139700"/>
                  </a:cubicBezTo>
                  <a:moveTo>
                    <a:pt x="127002" y="0"/>
                  </a:moveTo>
                  <a:cubicBezTo>
                    <a:pt x="141030" y="0"/>
                    <a:pt x="152402" y="11372"/>
                    <a:pt x="152402" y="25400"/>
                  </a:cubicBezTo>
                  <a:cubicBezTo>
                    <a:pt x="152402" y="39428"/>
                    <a:pt x="141030" y="50800"/>
                    <a:pt x="127002" y="50800"/>
                  </a:cubicBezTo>
                  <a:lnTo>
                    <a:pt x="76203" y="50800"/>
                  </a:lnTo>
                  <a:cubicBezTo>
                    <a:pt x="62175" y="50800"/>
                    <a:pt x="50803" y="39428"/>
                    <a:pt x="50803" y="25400"/>
                  </a:cubicBezTo>
                  <a:cubicBezTo>
                    <a:pt x="50803" y="11372"/>
                    <a:pt x="62175" y="0"/>
                    <a:pt x="76203" y="0"/>
                  </a:cubicBezTo>
                  <a:close/>
                </a:path>
              </a:pathLst>
            </a:custGeom>
            <a:solidFill>
              <a:srgbClr val="1C6DB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64708" y="24650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看得懂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68518" y="28889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多源采集清洗后，用图表把区域房价一眼呈现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876800" y="3390900"/>
              <a:ext cx="6781800" cy="9525"/>
            </a:xfrm>
            <a:custGeom>
              <a:avLst/>
              <a:gdLst/>
              <a:ahLst/>
              <a:cxnLst/>
              <a:rect l="l" t="t" r="r" b="b"/>
              <a:pathLst>
                <a:path w="6781800" h="9525">
                  <a:moveTo>
                    <a:pt x="0" y="0"/>
                  </a:moveTo>
                  <a:lnTo>
                    <a:pt x="6781800" y="0"/>
                  </a:lnTo>
                </a:path>
              </a:pathLst>
            </a:custGeom>
            <a:noFill/>
            <a:ln w="9525">
              <a:solidFill>
                <a:srgbClr val="EDF1F6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876800" y="3619500"/>
            <a:ext cx="6781800" cy="1000125"/>
            <a:chOff x="4876800" y="3619500"/>
            <a:chExt cx="6781800" cy="1000125"/>
          </a:xfrm>
        </p:grpSpPr>
        <p:sp>
          <p:nvSpPr>
            <p:cNvPr id="20" name="Rectangle 20"/>
            <p:cNvSpPr/>
            <p:nvPr/>
          </p:nvSpPr>
          <p:spPr>
            <a:xfrm>
              <a:off x="4876800" y="361950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E4F7F4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035550" y="3778250"/>
              <a:ext cx="253999" cy="253999"/>
            </a:xfrm>
            <a:custGeom>
              <a:avLst/>
              <a:gdLst/>
              <a:ahLst/>
              <a:cxnLst/>
              <a:rect l="l" t="t" r="r" b="b"/>
              <a:pathLst>
                <a:path w="253999" h="253999">
                  <a:moveTo>
                    <a:pt x="127000" y="0"/>
                  </a:moveTo>
                  <a:cubicBezTo>
                    <a:pt x="197142" y="0"/>
                    <a:pt x="253999" y="56858"/>
                    <a:pt x="253999" y="127000"/>
                  </a:cubicBezTo>
                  <a:cubicBezTo>
                    <a:pt x="253999" y="197140"/>
                    <a:pt x="197140" y="253999"/>
                    <a:pt x="127000" y="253999"/>
                  </a:cubicBezTo>
                  <a:cubicBezTo>
                    <a:pt x="56860" y="253999"/>
                    <a:pt x="0" y="197140"/>
                    <a:pt x="0" y="127000"/>
                  </a:cubicBezTo>
                  <a:lnTo>
                    <a:pt x="51" y="123444"/>
                  </a:lnTo>
                  <a:cubicBezTo>
                    <a:pt x="1930" y="54953"/>
                    <a:pt x="58039" y="0"/>
                    <a:pt x="127000" y="0"/>
                  </a:cubicBezTo>
                  <a:moveTo>
                    <a:pt x="123279" y="168821"/>
                  </a:moveTo>
                  <a:cubicBezTo>
                    <a:pt x="118295" y="164008"/>
                    <a:pt x="110374" y="164077"/>
                    <a:pt x="105476" y="168975"/>
                  </a:cubicBezTo>
                  <a:cubicBezTo>
                    <a:pt x="100577" y="173874"/>
                    <a:pt x="100508" y="181795"/>
                    <a:pt x="105321" y="186778"/>
                  </a:cubicBezTo>
                  <a:lnTo>
                    <a:pt x="118021" y="199478"/>
                  </a:lnTo>
                  <a:cubicBezTo>
                    <a:pt x="122980" y="204436"/>
                    <a:pt x="131019" y="204436"/>
                    <a:pt x="135979" y="199478"/>
                  </a:cubicBezTo>
                  <a:lnTo>
                    <a:pt x="148679" y="186778"/>
                  </a:lnTo>
                  <a:cubicBezTo>
                    <a:pt x="153636" y="181819"/>
                    <a:pt x="153636" y="173780"/>
                    <a:pt x="148679" y="168821"/>
                  </a:cubicBezTo>
                  <a:lnTo>
                    <a:pt x="147485" y="167767"/>
                  </a:lnTo>
                  <a:cubicBezTo>
                    <a:pt x="142429" y="163845"/>
                    <a:pt x="135245" y="164297"/>
                    <a:pt x="130721" y="168821"/>
                  </a:cubicBezTo>
                  <a:lnTo>
                    <a:pt x="127000" y="172529"/>
                  </a:lnTo>
                  <a:close/>
                  <a:moveTo>
                    <a:pt x="85179" y="105321"/>
                  </a:moveTo>
                  <a:cubicBezTo>
                    <a:pt x="80219" y="100363"/>
                    <a:pt x="72180" y="100363"/>
                    <a:pt x="67221" y="105321"/>
                  </a:cubicBezTo>
                  <a:lnTo>
                    <a:pt x="54521" y="118021"/>
                  </a:lnTo>
                  <a:cubicBezTo>
                    <a:pt x="49563" y="122980"/>
                    <a:pt x="49563" y="131019"/>
                    <a:pt x="54521" y="135979"/>
                  </a:cubicBezTo>
                  <a:lnTo>
                    <a:pt x="67221" y="148679"/>
                  </a:lnTo>
                  <a:cubicBezTo>
                    <a:pt x="72180" y="153636"/>
                    <a:pt x="80219" y="153636"/>
                    <a:pt x="85179" y="148679"/>
                  </a:cubicBezTo>
                  <a:lnTo>
                    <a:pt x="86233" y="147485"/>
                  </a:lnTo>
                  <a:cubicBezTo>
                    <a:pt x="90155" y="142429"/>
                    <a:pt x="89703" y="135245"/>
                    <a:pt x="85179" y="130721"/>
                  </a:cubicBezTo>
                  <a:lnTo>
                    <a:pt x="81470" y="127000"/>
                  </a:lnTo>
                  <a:lnTo>
                    <a:pt x="85179" y="123279"/>
                  </a:lnTo>
                  <a:cubicBezTo>
                    <a:pt x="90137" y="118319"/>
                    <a:pt x="90137" y="110280"/>
                    <a:pt x="85179" y="105321"/>
                  </a:cubicBezTo>
                  <a:moveTo>
                    <a:pt x="186778" y="105321"/>
                  </a:moveTo>
                  <a:cubicBezTo>
                    <a:pt x="181819" y="100363"/>
                    <a:pt x="173780" y="100363"/>
                    <a:pt x="168821" y="105321"/>
                  </a:cubicBezTo>
                  <a:lnTo>
                    <a:pt x="167767" y="106515"/>
                  </a:lnTo>
                  <a:cubicBezTo>
                    <a:pt x="163845" y="111570"/>
                    <a:pt x="164297" y="118754"/>
                    <a:pt x="168821" y="123279"/>
                  </a:cubicBezTo>
                  <a:lnTo>
                    <a:pt x="172529" y="126987"/>
                  </a:lnTo>
                  <a:lnTo>
                    <a:pt x="168821" y="130721"/>
                  </a:lnTo>
                  <a:cubicBezTo>
                    <a:pt x="164008" y="135704"/>
                    <a:pt x="164077" y="143625"/>
                    <a:pt x="168975" y="148524"/>
                  </a:cubicBezTo>
                  <a:cubicBezTo>
                    <a:pt x="173874" y="153423"/>
                    <a:pt x="181795" y="153491"/>
                    <a:pt x="186778" y="148679"/>
                  </a:cubicBezTo>
                  <a:lnTo>
                    <a:pt x="199478" y="135979"/>
                  </a:lnTo>
                  <a:cubicBezTo>
                    <a:pt x="204436" y="131019"/>
                    <a:pt x="204436" y="122980"/>
                    <a:pt x="199478" y="118021"/>
                  </a:cubicBezTo>
                  <a:close/>
                  <a:moveTo>
                    <a:pt x="135979" y="54521"/>
                  </a:moveTo>
                  <a:cubicBezTo>
                    <a:pt x="131019" y="49563"/>
                    <a:pt x="122980" y="49563"/>
                    <a:pt x="118021" y="54521"/>
                  </a:cubicBezTo>
                  <a:lnTo>
                    <a:pt x="105321" y="67221"/>
                  </a:lnTo>
                  <a:cubicBezTo>
                    <a:pt x="100363" y="72180"/>
                    <a:pt x="100363" y="80219"/>
                    <a:pt x="105321" y="85179"/>
                  </a:cubicBezTo>
                  <a:lnTo>
                    <a:pt x="106515" y="86233"/>
                  </a:lnTo>
                  <a:cubicBezTo>
                    <a:pt x="111570" y="90155"/>
                    <a:pt x="118754" y="89703"/>
                    <a:pt x="123279" y="85179"/>
                  </a:cubicBezTo>
                  <a:lnTo>
                    <a:pt x="127000" y="81470"/>
                  </a:lnTo>
                  <a:lnTo>
                    <a:pt x="130721" y="85179"/>
                  </a:lnTo>
                  <a:cubicBezTo>
                    <a:pt x="135704" y="89992"/>
                    <a:pt x="143625" y="89923"/>
                    <a:pt x="148524" y="85024"/>
                  </a:cubicBezTo>
                  <a:cubicBezTo>
                    <a:pt x="153423" y="80125"/>
                    <a:pt x="153491" y="72204"/>
                    <a:pt x="148679" y="67221"/>
                  </a:cubicBezTo>
                  <a:close/>
                </a:path>
              </a:pathLst>
            </a:custGeom>
            <a:solidFill>
              <a:srgbClr val="16B8A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64708" y="36842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比得清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68518" y="410813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跨区域、跨城市、跨价位横向对比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876800" y="4610100"/>
              <a:ext cx="6781800" cy="9525"/>
            </a:xfrm>
            <a:custGeom>
              <a:avLst/>
              <a:gdLst/>
              <a:ahLst/>
              <a:cxnLst/>
              <a:rect l="l" t="t" r="r" b="b"/>
              <a:pathLst>
                <a:path w="6781800" h="9525">
                  <a:moveTo>
                    <a:pt x="0" y="0"/>
                  </a:moveTo>
                  <a:lnTo>
                    <a:pt x="6781800" y="0"/>
                  </a:lnTo>
                </a:path>
              </a:pathLst>
            </a:custGeom>
            <a:noFill/>
            <a:ln w="9525">
              <a:solidFill>
                <a:srgbClr val="EDF1F6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876800" y="4838700"/>
            <a:ext cx="4840014" cy="811339"/>
            <a:chOff x="4876800" y="4838700"/>
            <a:chExt cx="4840014" cy="811339"/>
          </a:xfrm>
        </p:grpSpPr>
        <p:sp>
          <p:nvSpPr>
            <p:cNvPr id="26" name="Rectangle 26"/>
            <p:cNvSpPr/>
            <p:nvPr/>
          </p:nvSpPr>
          <p:spPr>
            <a:xfrm>
              <a:off x="4876800" y="483870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EAF3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5035550" y="4997450"/>
              <a:ext cx="256466" cy="253999"/>
              <a:chOff x="5035550" y="4997450"/>
              <a:chExt cx="256466" cy="25399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035550" y="4997450"/>
                <a:ext cx="253999" cy="253999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253999">
                    <a:moveTo>
                      <a:pt x="12700" y="0"/>
                    </a:moveTo>
                    <a:cubicBezTo>
                      <a:pt x="19714" y="0"/>
                      <a:pt x="25400" y="5686"/>
                      <a:pt x="25400" y="12700"/>
                    </a:cubicBezTo>
                    <a:lnTo>
                      <a:pt x="25400" y="228599"/>
                    </a:lnTo>
                    <a:lnTo>
                      <a:pt x="241299" y="228599"/>
                    </a:lnTo>
                    <a:cubicBezTo>
                      <a:pt x="247738" y="228600"/>
                      <a:pt x="253157" y="233419"/>
                      <a:pt x="253910" y="239814"/>
                    </a:cubicBezTo>
                    <a:lnTo>
                      <a:pt x="253999" y="241299"/>
                    </a:lnTo>
                    <a:cubicBezTo>
                      <a:pt x="253999" y="248313"/>
                      <a:pt x="248313" y="253999"/>
                      <a:pt x="241299" y="253999"/>
                    </a:cubicBezTo>
                    <a:lnTo>
                      <a:pt x="12700" y="253999"/>
                    </a:lnTo>
                    <a:cubicBezTo>
                      <a:pt x="5686" y="253999"/>
                      <a:pt x="0" y="248313"/>
                      <a:pt x="0" y="241299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5AA0DC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82184" y="5022850"/>
                <a:ext cx="209832" cy="181640"/>
              </a:xfrm>
              <a:custGeom>
                <a:avLst/>
                <a:gdLst/>
                <a:ahLst/>
                <a:cxnLst/>
                <a:rect l="l" t="t" r="r" b="b"/>
                <a:pathLst>
                  <a:path w="209832" h="181640">
                    <a:moveTo>
                      <a:pt x="169265" y="0"/>
                    </a:moveTo>
                    <a:cubicBezTo>
                      <a:pt x="183853" y="33"/>
                      <a:pt x="197142" y="8393"/>
                      <a:pt x="203487" y="21529"/>
                    </a:cubicBezTo>
                    <a:cubicBezTo>
                      <a:pt x="209832" y="34666"/>
                      <a:pt x="208119" y="50272"/>
                      <a:pt x="199075" y="61719"/>
                    </a:cubicBezTo>
                    <a:cubicBezTo>
                      <a:pt x="190031" y="73166"/>
                      <a:pt x="175245" y="78444"/>
                      <a:pt x="160997" y="75311"/>
                    </a:cubicBezTo>
                    <a:lnTo>
                      <a:pt x="135572" y="115976"/>
                    </a:lnTo>
                    <a:cubicBezTo>
                      <a:pt x="147569" y="131049"/>
                      <a:pt x="146428" y="152705"/>
                      <a:pt x="132913" y="166433"/>
                    </a:cubicBezTo>
                    <a:cubicBezTo>
                      <a:pt x="119398" y="180160"/>
                      <a:pt x="97762" y="181640"/>
                      <a:pt x="82504" y="169880"/>
                    </a:cubicBezTo>
                    <a:cubicBezTo>
                      <a:pt x="67246" y="158121"/>
                      <a:pt x="63166" y="136822"/>
                      <a:pt x="72999" y="120256"/>
                    </a:cubicBezTo>
                    <a:lnTo>
                      <a:pt x="55499" y="99238"/>
                    </a:lnTo>
                    <a:cubicBezTo>
                      <a:pt x="38100" y="105680"/>
                      <a:pt x="18590" y="98653"/>
                      <a:pt x="9295" y="82596"/>
                    </a:cubicBezTo>
                    <a:cubicBezTo>
                      <a:pt x="0" y="66540"/>
                      <a:pt x="3622" y="46122"/>
                      <a:pt x="17874" y="34242"/>
                    </a:cubicBezTo>
                    <a:cubicBezTo>
                      <a:pt x="32125" y="22363"/>
                      <a:pt x="52862" y="22477"/>
                      <a:pt x="66982" y="34511"/>
                    </a:cubicBezTo>
                    <a:cubicBezTo>
                      <a:pt x="81103" y="46546"/>
                      <a:pt x="84502" y="67002"/>
                      <a:pt x="75031" y="82956"/>
                    </a:cubicBezTo>
                    <a:lnTo>
                      <a:pt x="92532" y="103962"/>
                    </a:lnTo>
                    <a:cubicBezTo>
                      <a:pt x="99408" y="101412"/>
                      <a:pt x="106875" y="100905"/>
                      <a:pt x="114033" y="102501"/>
                    </a:cubicBezTo>
                    <a:lnTo>
                      <a:pt x="139458" y="61823"/>
                    </a:lnTo>
                    <a:cubicBezTo>
                      <a:pt x="130350" y="50378"/>
                      <a:pt x="128599" y="34729"/>
                      <a:pt x="134951" y="21554"/>
                    </a:cubicBezTo>
                    <a:cubicBezTo>
                      <a:pt x="141304" y="8378"/>
                      <a:pt x="154638" y="2"/>
                      <a:pt x="169265" y="0"/>
                    </a:cubicBezTo>
                    <a:close/>
                  </a:path>
                </a:pathLst>
              </a:custGeom>
              <a:solidFill>
                <a:srgbClr val="5AA0DC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664708" y="49034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算得准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8518" y="5327332"/>
              <a:ext cx="40482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机器学习预测指定区域 / 时段的价格波动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8510473" y="6271260"/>
            <a:ext cx="31542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A94A0"/>
                </a:solidFill>
                <a:latin typeface="Segoe UI"/>
                <a:ea typeface="Microsoft YaHei"/>
                <a:cs typeface="Segoe UI"/>
              </a:rPr>
              <a:t>城市房价分析系统 · 产品发布 | 02 产品定位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76250"/>
            <a:ext cx="7046824" cy="900684"/>
            <a:chOff x="533400" y="476250"/>
            <a:chExt cx="7046824" cy="900684"/>
          </a:xfrm>
        </p:grpSpPr>
        <p:sp>
          <p:nvSpPr>
            <p:cNvPr id="3" name="Rectangle 3"/>
            <p:cNvSpPr/>
            <p:nvPr/>
          </p:nvSpPr>
          <p:spPr>
            <a:xfrm>
              <a:off x="533400" y="476250"/>
              <a:ext cx="76200" cy="43815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498158"/>
              <a:ext cx="626558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功能全景：三层能力，由浅入深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2856" y="1024890"/>
              <a:ext cx="68273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按可交付难度分三层——基础先跑通，扩展再增强，高级做亮点。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1619250"/>
            <a:ext cx="3467100" cy="4438650"/>
            <a:chOff x="533400" y="1619250"/>
            <a:chExt cx="3467100" cy="4438650"/>
          </a:xfrm>
        </p:grpSpPr>
        <p:sp>
          <p:nvSpPr>
            <p:cNvPr id="7" name="Rectangle 7"/>
            <p:cNvSpPr/>
            <p:nvPr/>
          </p:nvSpPr>
          <p:spPr>
            <a:xfrm>
              <a:off x="533400" y="1619250"/>
              <a:ext cx="3467100" cy="443865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33400" y="1619250"/>
              <a:ext cx="3467100" cy="914400"/>
            </a:xfrm>
            <a:custGeom>
              <a:avLst/>
              <a:gdLst/>
              <a:ahLst/>
              <a:cxnLst/>
              <a:rect l="l" t="t" r="r" b="b"/>
              <a:pathLst>
                <a:path w="3467100" h="914400">
                  <a:moveTo>
                    <a:pt x="0" y="914400"/>
                  </a:move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lnTo>
                    <a:pt x="3314700" y="0"/>
                  </a:lnTo>
                  <a:cubicBezTo>
                    <a:pt x="3398868" y="0"/>
                    <a:pt x="3467100" y="68232"/>
                    <a:pt x="3467100" y="152400"/>
                  </a:cubicBezTo>
                  <a:lnTo>
                    <a:pt x="3467100" y="914400"/>
                  </a:lnTo>
                  <a:close/>
                </a:path>
              </a:pathLst>
            </a:custGeom>
            <a:solidFill>
              <a:srgbClr val="EAF2F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8294" y="19040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基础功能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51710"/>
              <a:ext cx="1055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先跑通 · 必做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08354" y="190309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900" b="1" dirty="0">
                  <a:solidFill>
                    <a:srgbClr val="1C6DBE">
                      <a:alphaMod val="12000"/>
                    </a:srgbClr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056" y="28727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C6DBE"/>
                  </a:solidFill>
                  <a:latin typeface="Segoe UI"/>
                  <a:ea typeface="Segoe UI"/>
                  <a:cs typeface="Segoe UI"/>
                </a:rPr>
                <a:t>①</a:t>
              </a:r>
              <a:r>
                <a:rPr lang="zh-CN" sz="18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 xml:space="preserve"> 搜索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207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按城市查小区、区域房价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056" y="37299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C6DBE"/>
                  </a:solidFill>
                  <a:latin typeface="Segoe UI"/>
                  <a:ea typeface="Segoe UI"/>
                  <a:cs typeface="Segoe UI"/>
                </a:rPr>
                <a:t>②</a:t>
              </a:r>
              <a:r>
                <a:rPr lang="zh-CN" sz="18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 xml:space="preserve"> 图表显示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4064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柱状图呈现搜索结果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056" y="458724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C6DBE"/>
                  </a:solidFill>
                  <a:latin typeface="Segoe UI"/>
                  <a:ea typeface="Segoe UI"/>
                  <a:cs typeface="Segoe UI"/>
                </a:rPr>
                <a:t>③</a:t>
              </a:r>
              <a:r>
                <a:rPr lang="zh-CN" sz="18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 xml:space="preserve"> 走势分析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342" y="49215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按年 / 月看区域趋势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62450" y="1619250"/>
            <a:ext cx="3467100" cy="4438650"/>
            <a:chOff x="4362450" y="1619250"/>
            <a:chExt cx="3467100" cy="4438650"/>
          </a:xfrm>
        </p:grpSpPr>
        <p:sp>
          <p:nvSpPr>
            <p:cNvPr id="19" name="Rectangle 19"/>
            <p:cNvSpPr/>
            <p:nvPr/>
          </p:nvSpPr>
          <p:spPr>
            <a:xfrm>
              <a:off x="4362450" y="1619250"/>
              <a:ext cx="3467100" cy="443865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362450" y="1619250"/>
              <a:ext cx="3467100" cy="914400"/>
            </a:xfrm>
            <a:custGeom>
              <a:avLst/>
              <a:gdLst/>
              <a:ahLst/>
              <a:cxnLst/>
              <a:rect l="l" t="t" r="r" b="b"/>
              <a:pathLst>
                <a:path w="3467100" h="914400">
                  <a:moveTo>
                    <a:pt x="0" y="914400"/>
                  </a:move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lnTo>
                    <a:pt x="3314700" y="0"/>
                  </a:lnTo>
                  <a:cubicBezTo>
                    <a:pt x="3398868" y="0"/>
                    <a:pt x="3467100" y="68232"/>
                    <a:pt x="3467100" y="152400"/>
                  </a:cubicBezTo>
                  <a:lnTo>
                    <a:pt x="3467100" y="914400"/>
                  </a:lnTo>
                  <a:close/>
                </a:path>
              </a:pathLst>
            </a:custGeom>
            <a:solidFill>
              <a:srgbClr val="E4F7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57344" y="19040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E9C8C"/>
                  </a:solidFill>
                  <a:latin typeface="Segoe UI"/>
                  <a:ea typeface="Microsoft YaHei"/>
                  <a:cs typeface="Segoe UI"/>
                </a:rPr>
                <a:t>扩展功能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61154" y="2251710"/>
              <a:ext cx="1055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再增强 · 进阶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37404" y="190309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900" b="1" dirty="0">
                  <a:solidFill>
                    <a:srgbClr val="16B8A6">
                      <a:alphaMod val="12000"/>
                    </a:srgbClr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58106" y="28727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6B8A6"/>
                  </a:solidFill>
                  <a:latin typeface="Segoe UI"/>
                  <a:ea typeface="Segoe UI"/>
                  <a:cs typeface="Segoe UI"/>
                </a:rPr>
                <a:t>④</a:t>
              </a:r>
              <a:r>
                <a:rPr lang="zh-CN" sz="18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 xml:space="preserve"> 对比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0392" y="3207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跨城品牌、走势归类分析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58106" y="37299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6B8A6"/>
                  </a:solidFill>
                  <a:latin typeface="Segoe UI"/>
                  <a:ea typeface="Segoe UI"/>
                  <a:cs typeface="Segoe UI"/>
                </a:rPr>
                <a:t>⑤</a:t>
              </a:r>
              <a:r>
                <a:rPr lang="zh-CN" sz="18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 xml:space="preserve"> 地图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0392" y="40643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区域房价地图标注 / 热力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458724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6B8A6"/>
                  </a:solidFill>
                  <a:latin typeface="Segoe UI"/>
                  <a:ea typeface="Segoe UI"/>
                  <a:cs typeface="Segoe UI"/>
                </a:rPr>
                <a:t>⑥</a:t>
              </a:r>
              <a:r>
                <a:rPr lang="zh-CN" sz="18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 xml:space="preserve"> 角色权限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60392" y="4921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不同用户看不同内容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91500" y="1619250"/>
            <a:ext cx="3467100" cy="4438650"/>
            <a:chOff x="8191500" y="1619250"/>
            <a:chExt cx="3467100" cy="4438650"/>
          </a:xfrm>
        </p:grpSpPr>
        <p:sp>
          <p:nvSpPr>
            <p:cNvPr id="31" name="Rectangle 31"/>
            <p:cNvSpPr/>
            <p:nvPr/>
          </p:nvSpPr>
          <p:spPr>
            <a:xfrm>
              <a:off x="8191500" y="1619250"/>
              <a:ext cx="3467100" cy="443865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191500" y="1619250"/>
              <a:ext cx="3467100" cy="914400"/>
            </a:xfrm>
            <a:custGeom>
              <a:avLst/>
              <a:gdLst/>
              <a:ahLst/>
              <a:cxnLst/>
              <a:rect l="l" t="t" r="r" b="b"/>
              <a:pathLst>
                <a:path w="3467100" h="914400">
                  <a:moveTo>
                    <a:pt x="0" y="914400"/>
                  </a:move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lnTo>
                    <a:pt x="3314700" y="0"/>
                  </a:lnTo>
                  <a:cubicBezTo>
                    <a:pt x="3398868" y="0"/>
                    <a:pt x="3467100" y="68232"/>
                    <a:pt x="3467100" y="152400"/>
                  </a:cubicBezTo>
                  <a:lnTo>
                    <a:pt x="3467100" y="914400"/>
                  </a:lnTo>
                  <a:close/>
                </a:path>
              </a:pathLst>
            </a:custGeom>
            <a:solidFill>
              <a:srgbClr val="EAF3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6394" y="19040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E82C4"/>
                  </a:solidFill>
                  <a:latin typeface="Segoe UI"/>
                  <a:ea typeface="Microsoft YaHei"/>
                  <a:cs typeface="Segoe UI"/>
                </a:rPr>
                <a:t>高级功能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90204" y="2251710"/>
              <a:ext cx="1055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做亮点 · 挑战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66454" y="190309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900" b="1" dirty="0">
                  <a:solidFill>
                    <a:srgbClr val="5AA0DC">
                      <a:alphaMod val="14000"/>
                    </a:srgbClr>
                  </a:solidFill>
                  <a:latin typeface="Segoe UI"/>
                  <a:ea typeface="Segoe UI"/>
                  <a:cs typeface="Segoe UI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87156" y="2872740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5AA0DC"/>
                  </a:solidFill>
                  <a:latin typeface="Segoe UI"/>
                  <a:ea typeface="Segoe UI"/>
                  <a:cs typeface="Segoe UI"/>
                </a:rPr>
                <a:t>⑦</a:t>
              </a:r>
              <a:r>
                <a:rPr lang="zh-CN" sz="18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 xml:space="preserve"> 机器学习预测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89442" y="320706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预测指定区域 / 时段价格波动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496300" y="3790950"/>
              <a:ext cx="2857500" cy="1943100"/>
            </a:xfrm>
            <a:prstGeom prst="roundRect">
              <a:avLst>
                <a:gd name="adj" fmla="val 5882"/>
              </a:avLst>
            </a:prstGeom>
            <a:solidFill>
              <a:srgbClr val="F5F8F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79942" y="4007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AA0DC"/>
                  </a:solidFill>
                  <a:latin typeface="Segoe UI"/>
                  <a:ea typeface="Microsoft YaHei"/>
                  <a:cs typeface="Segoe UI"/>
                </a:rPr>
                <a:t>实现路径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79942" y="4350068"/>
              <a:ext cx="2150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沿用 Kaggle 房价回归范式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79942" y="4654868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随机森林 baseline 先达标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79942" y="4959668"/>
              <a:ext cx="19030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XGBoost 作为提升亮点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80704" y="53378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0"/>
                  </a:solidFill>
                  <a:latin typeface="Segoe UI"/>
                  <a:ea typeface="Microsoft YaHei"/>
                  <a:cs typeface="Segoe UI"/>
                </a:rPr>
                <a:t>不追求竞赛级精度，重在跑通链路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76250"/>
            <a:ext cx="6923437" cy="881634"/>
            <a:chOff x="533400" y="476250"/>
            <a:chExt cx="6923437" cy="881634"/>
          </a:xfrm>
        </p:grpSpPr>
        <p:sp>
          <p:nvSpPr>
            <p:cNvPr id="3" name="Rectangle 3"/>
            <p:cNvSpPr/>
            <p:nvPr/>
          </p:nvSpPr>
          <p:spPr>
            <a:xfrm>
              <a:off x="533400" y="476250"/>
              <a:ext cx="76200" cy="43815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498158"/>
              <a:ext cx="6710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数据说话：一眼看清区域均价梯度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2856" y="1005840"/>
              <a:ext cx="66577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看得懂第一步——</a:t>
              </a:r>
              <a:r>
                <a:rPr lang="zh-CN" sz="1800" b="1" dirty="0">
                  <a:solidFill>
                    <a:srgbClr val="E4572E"/>
                  </a:solidFill>
                  <a:latin typeface="Segoe UI"/>
                  <a:ea typeface="Microsoft YaHei"/>
                  <a:cs typeface="Segoe UI"/>
                </a:rPr>
                <a:t>示例数据</a:t>
              </a:r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：某城市各区域二手房均价（元/㎡）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80262" y="1759268"/>
            <a:ext cx="7787488" cy="3940683"/>
            <a:chOff x="880262" y="1759268"/>
            <a:chExt cx="7787488" cy="3940683"/>
          </a:xfrm>
        </p:grpSpPr>
        <p:grpSp>
          <p:nvGrpSpPr>
            <p:cNvPr id="42" name="Group 42"/>
            <p:cNvGrpSpPr/>
            <p:nvPr/>
          </p:nvGrpSpPr>
          <p:grpSpPr>
            <a:xfrm>
              <a:off x="880262" y="1759268"/>
              <a:ext cx="7787488" cy="3940683"/>
              <a:chOff x="880262" y="1759268"/>
              <a:chExt cx="7787488" cy="3940683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1428750" y="447675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rgbClr val="EDF1F6"/>
                </a:solidFill>
                <a:prstDash val="dash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428750" y="36195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rgbClr val="EDF1F6"/>
                </a:solidFill>
                <a:prstDash val="dash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428750" y="276225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rgbClr val="EDF1F6"/>
                </a:solidFill>
                <a:prstDash val="dash"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428750" y="19050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rgbClr val="EDF1F6"/>
                </a:solidFill>
                <a:prstDash val="dash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19505" y="52520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8A94A0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80262" y="4394835"/>
                <a:ext cx="4402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8A94A0"/>
                    </a:solidFill>
                    <a:latin typeface="Segoe UI"/>
                    <a:ea typeface="Microsoft YaHei"/>
                    <a:cs typeface="Segoe UI"/>
                  </a:rPr>
                  <a:t>1.5万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57961" y="3537585"/>
                <a:ext cx="26258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8A94A0"/>
                    </a:solidFill>
                    <a:latin typeface="Segoe UI"/>
                    <a:ea typeface="Microsoft YaHei"/>
                    <a:cs typeface="Segoe UI"/>
                  </a:rPr>
                  <a:t>3万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80262" y="2680335"/>
                <a:ext cx="4402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8A94A0"/>
                    </a:solidFill>
                    <a:latin typeface="Segoe UI"/>
                    <a:ea typeface="Microsoft YaHei"/>
                    <a:cs typeface="Segoe UI"/>
                  </a:rPr>
                  <a:t>4.5万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57961" y="1823085"/>
                <a:ext cx="26258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8A94A0"/>
                    </a:solidFill>
                    <a:latin typeface="Segoe UI"/>
                    <a:ea typeface="Microsoft YaHei"/>
                    <a:cs typeface="Segoe UI"/>
                  </a:rPr>
                  <a:t>6万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1428750" y="1905000"/>
                <a:ext cx="952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0">
                    <a:moveTo>
                      <a:pt x="0" y="0"/>
                    </a:moveTo>
                    <a:lnTo>
                      <a:pt x="0" y="342900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428750" y="53340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1739836" y="1759268"/>
                <a:ext cx="558927" cy="3940683"/>
                <a:chOff x="1739836" y="1759268"/>
                <a:chExt cx="558927" cy="3940683"/>
              </a:xfrm>
            </p:grpSpPr>
            <p:sp>
              <p:nvSpPr>
                <p:cNvPr id="18" name="Rectangle 18"/>
                <p:cNvSpPr/>
                <p:nvPr/>
              </p:nvSpPr>
              <p:spPr>
                <a:xfrm>
                  <a:off x="1752600" y="2019300"/>
                  <a:ext cx="533400" cy="3314700"/>
                </a:xfrm>
                <a:prstGeom prst="roundRect">
                  <a:avLst>
                    <a:gd name="adj" fmla="val 10714"/>
                  </a:avLst>
                </a:prstGeom>
                <a:solidFill>
                  <a:srgbClr val="16B8A6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759600" y="1759268"/>
                  <a:ext cx="51939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0E9C8C"/>
                      </a:solidFill>
                      <a:latin typeface="Segoe UI"/>
                      <a:ea typeface="Microsoft YaHei"/>
                      <a:cs typeface="Segoe UI"/>
                    </a:rPr>
                    <a:t>5.8万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739836" y="5435918"/>
                  <a:ext cx="5589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5B6672"/>
                      </a:solidFill>
                      <a:latin typeface="Segoe UI"/>
                      <a:ea typeface="Microsoft YaHei"/>
                      <a:cs typeface="Segoe UI"/>
                    </a:rPr>
                    <a:t>核心区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2930461" y="2502218"/>
                <a:ext cx="558927" cy="3197733"/>
                <a:chOff x="2930461" y="2502218"/>
                <a:chExt cx="558927" cy="3197733"/>
              </a:xfrm>
            </p:grpSpPr>
            <p:sp>
              <p:nvSpPr>
                <p:cNvPr id="22" name="Rectangle 22"/>
                <p:cNvSpPr/>
                <p:nvPr/>
              </p:nvSpPr>
              <p:spPr>
                <a:xfrm>
                  <a:off x="2943225" y="2762250"/>
                  <a:ext cx="533400" cy="2571750"/>
                </a:xfrm>
                <a:prstGeom prst="roundRect">
                  <a:avLst>
                    <a:gd name="adj" fmla="val 10714"/>
                  </a:avLst>
                </a:prstGeom>
                <a:solidFill>
                  <a:srgbClr val="1C6DBE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2950225" y="2502218"/>
                  <a:ext cx="51939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1F2A37"/>
                      </a:solidFill>
                      <a:latin typeface="Segoe UI"/>
                      <a:ea typeface="Microsoft YaHei"/>
                      <a:cs typeface="Segoe UI"/>
                    </a:rPr>
                    <a:t>4.5万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930461" y="5435918"/>
                  <a:ext cx="55892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5B6672"/>
                      </a:solidFill>
                      <a:latin typeface="Segoe UI"/>
                      <a:ea typeface="Microsoft YaHei"/>
                      <a:cs typeface="Segoe UI"/>
                    </a:rPr>
                    <a:t>高新区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4133850" y="3016568"/>
                <a:ext cx="533400" cy="2683383"/>
                <a:chOff x="4133850" y="3016568"/>
                <a:chExt cx="533400" cy="2683383"/>
              </a:xfrm>
            </p:grpSpPr>
            <p:sp>
              <p:nvSpPr>
                <p:cNvPr id="26" name="Rectangle 26"/>
                <p:cNvSpPr/>
                <p:nvPr/>
              </p:nvSpPr>
              <p:spPr>
                <a:xfrm>
                  <a:off x="4133850" y="3276600"/>
                  <a:ext cx="533400" cy="2057400"/>
                </a:xfrm>
                <a:prstGeom prst="roundRect">
                  <a:avLst>
                    <a:gd name="adj" fmla="val 10714"/>
                  </a:avLst>
                </a:prstGeom>
                <a:solidFill>
                  <a:srgbClr val="1C6DBE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140850" y="3016568"/>
                  <a:ext cx="51939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1F2A37"/>
                      </a:solidFill>
                      <a:latin typeface="Segoe UI"/>
                      <a:ea typeface="Microsoft YaHei"/>
                      <a:cs typeface="Segoe UI"/>
                    </a:rPr>
                    <a:t>3.6万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211955" y="5435918"/>
                  <a:ext cx="37719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5B6672"/>
                      </a:solidFill>
                      <a:latin typeface="Segoe UI"/>
                      <a:ea typeface="Microsoft YaHei"/>
                      <a:cs typeface="Segoe UI"/>
                    </a:rPr>
                    <a:t>江南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5324475" y="3302318"/>
                <a:ext cx="533400" cy="2397633"/>
                <a:chOff x="5324475" y="3302318"/>
                <a:chExt cx="533400" cy="2397633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5324475" y="3562350"/>
                  <a:ext cx="533400" cy="1771650"/>
                </a:xfrm>
                <a:prstGeom prst="roundRect">
                  <a:avLst>
                    <a:gd name="adj" fmla="val 10714"/>
                  </a:avLst>
                </a:prstGeom>
                <a:solidFill>
                  <a:srgbClr val="1C6DBE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331475" y="3302318"/>
                  <a:ext cx="51939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1F2A37"/>
                      </a:solidFill>
                      <a:latin typeface="Segoe UI"/>
                      <a:ea typeface="Microsoft YaHei"/>
                      <a:cs typeface="Segoe UI"/>
                    </a:rPr>
                    <a:t>3.1万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5402580" y="5435918"/>
                  <a:ext cx="37719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5B6672"/>
                      </a:solidFill>
                      <a:latin typeface="Segoe UI"/>
                      <a:ea typeface="Microsoft YaHei"/>
                      <a:cs typeface="Segoe UI"/>
                    </a:rPr>
                    <a:t>城东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6515100" y="3530918"/>
                <a:ext cx="533400" cy="2169033"/>
                <a:chOff x="6515100" y="3530918"/>
                <a:chExt cx="533400" cy="2169033"/>
              </a:xfrm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6515100" y="3790950"/>
                  <a:ext cx="533400" cy="1543050"/>
                </a:xfrm>
                <a:prstGeom prst="roundRect">
                  <a:avLst>
                    <a:gd name="adj" fmla="val 10714"/>
                  </a:avLst>
                </a:prstGeom>
                <a:solidFill>
                  <a:srgbClr val="1C6DBE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522100" y="3530918"/>
                  <a:ext cx="51939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1F2A37"/>
                      </a:solidFill>
                      <a:latin typeface="Segoe UI"/>
                      <a:ea typeface="Microsoft YaHei"/>
                      <a:cs typeface="Segoe UI"/>
                    </a:rPr>
                    <a:t>2.7万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593205" y="5435918"/>
                  <a:ext cx="37719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5B6672"/>
                      </a:solidFill>
                      <a:latin typeface="Segoe UI"/>
                      <a:ea typeface="Microsoft YaHei"/>
                      <a:cs typeface="Segoe UI"/>
                    </a:rPr>
                    <a:t>城北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705725" y="4045268"/>
                <a:ext cx="533400" cy="1654683"/>
                <a:chOff x="7705725" y="4045268"/>
                <a:chExt cx="533400" cy="1654683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7705725" y="4305300"/>
                  <a:ext cx="533400" cy="1028700"/>
                </a:xfrm>
                <a:prstGeom prst="roundRect">
                  <a:avLst>
                    <a:gd name="adj" fmla="val 10714"/>
                  </a:avLst>
                </a:prstGeom>
                <a:solidFill>
                  <a:srgbClr val="5AA0DC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712725" y="4045268"/>
                  <a:ext cx="51939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1F2A37"/>
                      </a:solidFill>
                      <a:latin typeface="Segoe UI"/>
                      <a:ea typeface="Microsoft YaHei"/>
                      <a:cs typeface="Segoe UI"/>
                    </a:rPr>
                    <a:t>1.8万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783830" y="5435918"/>
                  <a:ext cx="37719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5B6672"/>
                      </a:solidFill>
                      <a:latin typeface="Segoe UI"/>
                      <a:ea typeface="Microsoft YaHei"/>
                      <a:cs typeface="Segoe UI"/>
                    </a:rPr>
                    <a:t>远郊</a:t>
                  </a:r>
                </a:p>
              </p:txBody>
            </p:sp>
          </p:grpSp>
        </p:grpSp>
      </p:grpSp>
      <p:grpSp>
        <p:nvGrpSpPr>
          <p:cNvPr id="54" name="Group 54"/>
          <p:cNvGrpSpPr/>
          <p:nvPr/>
        </p:nvGrpSpPr>
        <p:grpSpPr>
          <a:xfrm>
            <a:off x="9029700" y="1905000"/>
            <a:ext cx="2628900" cy="3429000"/>
            <a:chOff x="9029700" y="1905000"/>
            <a:chExt cx="2628900" cy="3429000"/>
          </a:xfrm>
        </p:grpSpPr>
        <p:sp>
          <p:nvSpPr>
            <p:cNvPr id="44" name="Rectangle 44"/>
            <p:cNvSpPr/>
            <p:nvPr/>
          </p:nvSpPr>
          <p:spPr>
            <a:xfrm>
              <a:off x="9029700" y="1905000"/>
              <a:ext cx="2628900" cy="3429000"/>
            </a:xfrm>
            <a:prstGeom prst="roundRect">
              <a:avLst>
                <a:gd name="adj" fmla="val 5797"/>
              </a:avLst>
            </a:prstGeom>
            <a:solidFill>
              <a:srgbClr val="EEF4FB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350372" y="2198688"/>
              <a:ext cx="215906" cy="269876"/>
            </a:xfrm>
            <a:custGeom>
              <a:avLst/>
              <a:gdLst/>
              <a:ahLst/>
              <a:cxnLst/>
              <a:rect l="l" t="t" r="r" b="b"/>
              <a:pathLst>
                <a:path w="215906" h="269876">
                  <a:moveTo>
                    <a:pt x="188875" y="29282"/>
                  </a:moveTo>
                  <a:cubicBezTo>
                    <a:pt x="205073" y="34989"/>
                    <a:pt x="215906" y="50295"/>
                    <a:pt x="215903" y="67469"/>
                  </a:cubicBezTo>
                  <a:lnTo>
                    <a:pt x="215903" y="229394"/>
                  </a:lnTo>
                  <a:cubicBezTo>
                    <a:pt x="215903" y="251752"/>
                    <a:pt x="197779" y="269876"/>
                    <a:pt x="175422" y="269876"/>
                  </a:cubicBezTo>
                  <a:lnTo>
                    <a:pt x="40484" y="269876"/>
                  </a:lnTo>
                  <a:cubicBezTo>
                    <a:pt x="18127" y="269876"/>
                    <a:pt x="3" y="251752"/>
                    <a:pt x="3" y="229394"/>
                  </a:cubicBezTo>
                  <a:lnTo>
                    <a:pt x="3" y="67469"/>
                  </a:lnTo>
                  <a:cubicBezTo>
                    <a:pt x="0" y="50295"/>
                    <a:pt x="10833" y="34989"/>
                    <a:pt x="27031" y="29282"/>
                  </a:cubicBezTo>
                  <a:cubicBezTo>
                    <a:pt x="28260" y="58176"/>
                    <a:pt x="52045" y="80967"/>
                    <a:pt x="80966" y="80963"/>
                  </a:cubicBezTo>
                  <a:lnTo>
                    <a:pt x="134941" y="80963"/>
                  </a:lnTo>
                  <a:cubicBezTo>
                    <a:pt x="162647" y="80965"/>
                    <a:pt x="185855" y="59990"/>
                    <a:pt x="188646" y="32426"/>
                  </a:cubicBezTo>
                  <a:close/>
                  <a:moveTo>
                    <a:pt x="67472" y="121444"/>
                  </a:moveTo>
                  <a:cubicBezTo>
                    <a:pt x="60019" y="121444"/>
                    <a:pt x="53978" y="127485"/>
                    <a:pt x="53978" y="134938"/>
                  </a:cubicBezTo>
                  <a:lnTo>
                    <a:pt x="53978" y="202407"/>
                  </a:lnTo>
                  <a:cubicBezTo>
                    <a:pt x="53978" y="209859"/>
                    <a:pt x="60019" y="215901"/>
                    <a:pt x="67472" y="215901"/>
                  </a:cubicBezTo>
                  <a:cubicBezTo>
                    <a:pt x="74924" y="215901"/>
                    <a:pt x="80966" y="209859"/>
                    <a:pt x="80966" y="202407"/>
                  </a:cubicBezTo>
                  <a:lnTo>
                    <a:pt x="80966" y="134938"/>
                  </a:lnTo>
                  <a:cubicBezTo>
                    <a:pt x="80966" y="127485"/>
                    <a:pt x="74924" y="121444"/>
                    <a:pt x="67472" y="121444"/>
                  </a:cubicBezTo>
                  <a:moveTo>
                    <a:pt x="107953" y="175419"/>
                  </a:moveTo>
                  <a:cubicBezTo>
                    <a:pt x="100501" y="175419"/>
                    <a:pt x="94459" y="181461"/>
                    <a:pt x="94459" y="188913"/>
                  </a:cubicBezTo>
                  <a:lnTo>
                    <a:pt x="94459" y="202407"/>
                  </a:lnTo>
                  <a:cubicBezTo>
                    <a:pt x="94459" y="209859"/>
                    <a:pt x="100501" y="215901"/>
                    <a:pt x="107953" y="215901"/>
                  </a:cubicBezTo>
                  <a:cubicBezTo>
                    <a:pt x="115406" y="215901"/>
                    <a:pt x="121447" y="209859"/>
                    <a:pt x="121447" y="202407"/>
                  </a:cubicBezTo>
                  <a:lnTo>
                    <a:pt x="121447" y="188913"/>
                  </a:lnTo>
                  <a:cubicBezTo>
                    <a:pt x="121447" y="181461"/>
                    <a:pt x="115406" y="175419"/>
                    <a:pt x="107953" y="175419"/>
                  </a:cubicBezTo>
                  <a:moveTo>
                    <a:pt x="148435" y="148432"/>
                  </a:moveTo>
                  <a:cubicBezTo>
                    <a:pt x="140982" y="148432"/>
                    <a:pt x="134941" y="154473"/>
                    <a:pt x="134941" y="161925"/>
                  </a:cubicBezTo>
                  <a:lnTo>
                    <a:pt x="134941" y="202407"/>
                  </a:lnTo>
                  <a:cubicBezTo>
                    <a:pt x="134941" y="209859"/>
                    <a:pt x="140982" y="215901"/>
                    <a:pt x="148435" y="215901"/>
                  </a:cubicBezTo>
                  <a:cubicBezTo>
                    <a:pt x="155887" y="215901"/>
                    <a:pt x="161928" y="209859"/>
                    <a:pt x="161928" y="202407"/>
                  </a:cubicBezTo>
                  <a:lnTo>
                    <a:pt x="161928" y="161925"/>
                  </a:lnTo>
                  <a:cubicBezTo>
                    <a:pt x="161928" y="154473"/>
                    <a:pt x="155887" y="148432"/>
                    <a:pt x="148435" y="148432"/>
                  </a:cubicBezTo>
                  <a:moveTo>
                    <a:pt x="134941" y="0"/>
                  </a:moveTo>
                  <a:cubicBezTo>
                    <a:pt x="149846" y="0"/>
                    <a:pt x="161928" y="12083"/>
                    <a:pt x="161928" y="26988"/>
                  </a:cubicBezTo>
                  <a:cubicBezTo>
                    <a:pt x="161928" y="41892"/>
                    <a:pt x="149846" y="53975"/>
                    <a:pt x="134941" y="53975"/>
                  </a:cubicBezTo>
                  <a:lnTo>
                    <a:pt x="80966" y="53975"/>
                  </a:lnTo>
                  <a:cubicBezTo>
                    <a:pt x="66061" y="53975"/>
                    <a:pt x="53978" y="41892"/>
                    <a:pt x="53978" y="26988"/>
                  </a:cubicBezTo>
                  <a:cubicBezTo>
                    <a:pt x="53978" y="12083"/>
                    <a:pt x="66061" y="0"/>
                    <a:pt x="80966" y="0"/>
                  </a:cubicBezTo>
                  <a:close/>
                </a:path>
              </a:pathLst>
            </a:custGeom>
            <a:solidFill>
              <a:srgbClr val="1C6DBE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24644" y="220884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数据从哪来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9296400" y="2647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D8E2E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88780" y="2886075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· 多源爬取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60992" y="3188018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链家 / 安居客 / 城建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88780" y="3648075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· 清洗聚合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60992" y="3950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按区域求均价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88780" y="4410075"/>
              <a:ext cx="1043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· 灵活切换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60992" y="47120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按城市切换、排序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755904" y="5890260"/>
            <a:ext cx="53512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0"/>
                </a:solidFill>
                <a:latin typeface="Segoe UI"/>
                <a:ea typeface="Microsoft YaHei"/>
                <a:cs typeface="Segoe UI"/>
              </a:rPr>
              <a:t>图为示例数据，真实数值由采集流水线产出 | 城市房价分析系统 · 产品发布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76250"/>
            <a:ext cx="7289140" cy="881634"/>
            <a:chOff x="533400" y="476250"/>
            <a:chExt cx="7289140" cy="881634"/>
          </a:xfrm>
        </p:grpSpPr>
        <p:sp>
          <p:nvSpPr>
            <p:cNvPr id="3" name="Rectangle 3"/>
            <p:cNvSpPr/>
            <p:nvPr/>
          </p:nvSpPr>
          <p:spPr>
            <a:xfrm>
              <a:off x="533400" y="476250"/>
              <a:ext cx="76200" cy="43815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498158"/>
              <a:ext cx="6710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走势分析：是涨、是跌，还是横盘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2856" y="1005840"/>
              <a:ext cx="7069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看得懂第二步——</a:t>
              </a:r>
              <a:r>
                <a:rPr lang="zh-CN" sz="1800" b="1" dirty="0">
                  <a:solidFill>
                    <a:srgbClr val="E4572E"/>
                  </a:solidFill>
                  <a:latin typeface="Segoe UI"/>
                  <a:ea typeface="Microsoft YaHei"/>
                  <a:cs typeface="Segoe UI"/>
                </a:rPr>
                <a:t>示例数据</a:t>
              </a:r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：两区域近 12 个月均价走势（万元/㎡）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41806" y="1775460"/>
            <a:ext cx="10927286" cy="3904774"/>
            <a:chOff x="1041806" y="1775460"/>
            <a:chExt cx="10927286" cy="3904774"/>
          </a:xfrm>
        </p:grpSpPr>
        <p:grpSp>
          <p:nvGrpSpPr>
            <p:cNvPr id="44" name="Group 44"/>
            <p:cNvGrpSpPr/>
            <p:nvPr/>
          </p:nvGrpSpPr>
          <p:grpSpPr>
            <a:xfrm>
              <a:off x="1041806" y="1775460"/>
              <a:ext cx="10927286" cy="3904774"/>
              <a:chOff x="1041806" y="1775460"/>
              <a:chExt cx="10927286" cy="3904774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1428750" y="4476750"/>
                <a:ext cx="952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525">
                    <a:moveTo>
                      <a:pt x="0" y="0"/>
                    </a:moveTo>
                    <a:lnTo>
                      <a:pt x="9525000" y="0"/>
                    </a:lnTo>
                  </a:path>
                </a:pathLst>
              </a:custGeom>
              <a:noFill/>
              <a:ln w="9525">
                <a:solidFill>
                  <a:srgbClr val="EDF1F6"/>
                </a:solidFill>
                <a:prstDash val="dash"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428750" y="3619500"/>
                <a:ext cx="952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525">
                    <a:moveTo>
                      <a:pt x="0" y="0"/>
                    </a:moveTo>
                    <a:lnTo>
                      <a:pt x="9525000" y="0"/>
                    </a:lnTo>
                  </a:path>
                </a:pathLst>
              </a:custGeom>
              <a:noFill/>
              <a:ln w="9525">
                <a:solidFill>
                  <a:srgbClr val="EDF1F6"/>
                </a:solidFill>
                <a:prstDash val="dash"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428750" y="2762250"/>
                <a:ext cx="952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525">
                    <a:moveTo>
                      <a:pt x="0" y="0"/>
                    </a:moveTo>
                    <a:lnTo>
                      <a:pt x="9525000" y="0"/>
                    </a:lnTo>
                  </a:path>
                </a:pathLst>
              </a:custGeom>
              <a:noFill/>
              <a:ln w="9525">
                <a:solidFill>
                  <a:srgbClr val="EDF1F6"/>
                </a:solidFill>
                <a:prstDash val="dash"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428750" y="1905000"/>
                <a:ext cx="952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525">
                    <a:moveTo>
                      <a:pt x="0" y="0"/>
                    </a:moveTo>
                    <a:lnTo>
                      <a:pt x="9525000" y="0"/>
                    </a:lnTo>
                  </a:path>
                </a:pathLst>
              </a:custGeom>
              <a:noFill/>
              <a:ln w="9525">
                <a:solidFill>
                  <a:srgbClr val="EDF1F6"/>
                </a:solidFill>
                <a:prstDash val="dash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19505" y="52520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8A94A0"/>
                    </a:solidFill>
                    <a:latin typeface="Segoe UI"/>
                    <a:ea typeface="Segoe UI"/>
                    <a:cs typeface="Segoe UI"/>
                  </a:rPr>
                  <a:t>0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41806" y="4394835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8A94A0"/>
                    </a:solidFill>
                    <a:latin typeface="Segoe UI"/>
                    <a:ea typeface="Segoe UI"/>
                    <a:cs typeface="Segoe UI"/>
                  </a:rPr>
                  <a:t>1.5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41806" y="3537585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8A94A0"/>
                    </a:solidFill>
                    <a:latin typeface="Segoe UI"/>
                    <a:ea typeface="Segoe UI"/>
                    <a:cs typeface="Segoe UI"/>
                  </a:rPr>
                  <a:t>3.0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41806" y="2680335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8A94A0"/>
                    </a:solidFill>
                    <a:latin typeface="Segoe UI"/>
                    <a:ea typeface="Segoe UI"/>
                    <a:cs typeface="Segoe UI"/>
                  </a:rPr>
                  <a:t>4.5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41806" y="1823085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8A94A0"/>
                    </a:solidFill>
                    <a:latin typeface="Segoe UI"/>
                    <a:ea typeface="Segoe UI"/>
                    <a:cs typeface="Segoe UI"/>
                  </a:rPr>
                  <a:t>6.0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1428750" y="1905000"/>
                <a:ext cx="952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0">
                    <a:moveTo>
                      <a:pt x="0" y="0"/>
                    </a:moveTo>
                    <a:lnTo>
                      <a:pt x="0" y="342900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428750" y="5334000"/>
                <a:ext cx="952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525">
                    <a:moveTo>
                      <a:pt x="0" y="0"/>
                    </a:moveTo>
                    <a:lnTo>
                      <a:pt x="952500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305663" y="5460206"/>
                <a:ext cx="246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8A94A0"/>
                    </a:solidFill>
                    <a:latin typeface="Segoe UI"/>
                    <a:ea typeface="Microsoft YaHei"/>
                    <a:cs typeface="Segoe UI"/>
                  </a:rPr>
                  <a:t>1月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020163" y="5460206"/>
                <a:ext cx="246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8A94A0"/>
                    </a:solidFill>
                    <a:latin typeface="Segoe UI"/>
                    <a:ea typeface="Microsoft YaHei"/>
                    <a:cs typeface="Segoe UI"/>
                  </a:rPr>
                  <a:t>3月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734663" y="5460206"/>
                <a:ext cx="246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8A94A0"/>
                    </a:solidFill>
                    <a:latin typeface="Segoe UI"/>
                    <a:ea typeface="Microsoft YaHei"/>
                    <a:cs typeface="Segoe UI"/>
                  </a:rPr>
                  <a:t>5月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49163" y="5460206"/>
                <a:ext cx="246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8A94A0"/>
                    </a:solidFill>
                    <a:latin typeface="Segoe UI"/>
                    <a:ea typeface="Microsoft YaHei"/>
                    <a:cs typeface="Segoe UI"/>
                  </a:rPr>
                  <a:t>7月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63663" y="5460206"/>
                <a:ext cx="24617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8A94A0"/>
                    </a:solidFill>
                    <a:latin typeface="Segoe UI"/>
                    <a:ea typeface="Microsoft YaHei"/>
                    <a:cs typeface="Segoe UI"/>
                  </a:rPr>
                  <a:t>9月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836515" y="5460206"/>
                <a:ext cx="3294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8A94A0"/>
                    </a:solidFill>
                    <a:latin typeface="Segoe UI"/>
                    <a:ea typeface="Microsoft YaHei"/>
                    <a:cs typeface="Segoe UI"/>
                  </a:rPr>
                  <a:t>11月</a:t>
                </a:r>
              </a:p>
            </p:txBody>
          </p:sp>
          <p:sp>
            <p:nvSpPr>
              <p:cNvPr id="24" name="Polyline 24"/>
              <p:cNvSpPr/>
              <p:nvPr/>
            </p:nvSpPr>
            <p:spPr>
              <a:xfrm>
                <a:off x="1428750" y="1962150"/>
                <a:ext cx="9429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429750" h="285750">
                    <a:moveTo>
                      <a:pt x="0" y="285750"/>
                    </a:moveTo>
                    <a:lnTo>
                      <a:pt x="857250" y="228600"/>
                    </a:lnTo>
                    <a:lnTo>
                      <a:pt x="1714500" y="200025"/>
                    </a:lnTo>
                    <a:lnTo>
                      <a:pt x="2571750" y="171450"/>
                    </a:lnTo>
                    <a:lnTo>
                      <a:pt x="3429000" y="142875"/>
                    </a:lnTo>
                    <a:lnTo>
                      <a:pt x="4286250" y="114300"/>
                    </a:lnTo>
                    <a:lnTo>
                      <a:pt x="5143500" y="104775"/>
                    </a:lnTo>
                    <a:lnTo>
                      <a:pt x="6000750" y="85725"/>
                    </a:lnTo>
                    <a:lnTo>
                      <a:pt x="6858000" y="66675"/>
                    </a:lnTo>
                    <a:lnTo>
                      <a:pt x="7715250" y="57150"/>
                    </a:lnTo>
                    <a:lnTo>
                      <a:pt x="8572500" y="28575"/>
                    </a:lnTo>
                    <a:lnTo>
                      <a:pt x="9429750" y="0"/>
                    </a:lnTo>
                  </a:path>
                </a:pathLst>
              </a:custGeom>
              <a:noFill/>
              <a:ln w="38100" cap="rnd">
                <a:solidFill>
                  <a:srgbClr val="1C6DBE"/>
                </a:solidFill>
                <a:round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1381125" y="1905000"/>
                <a:ext cx="9534525" cy="390525"/>
                <a:chOff x="1381125" y="1905000"/>
                <a:chExt cx="9534525" cy="390525"/>
              </a:xfrm>
            </p:grpSpPr>
            <p:sp>
              <p:nvSpPr>
                <p:cNvPr id="25" name="Ellipse 25"/>
                <p:cNvSpPr/>
                <p:nvPr/>
              </p:nvSpPr>
              <p:spPr>
                <a:xfrm>
                  <a:off x="1381125" y="2200275"/>
                  <a:ext cx="95250" cy="95250"/>
                </a:xfrm>
                <a:prstGeom prst="ellipse">
                  <a:avLst/>
                </a:prstGeom>
                <a:solidFill>
                  <a:srgbClr val="1C6DBE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Ellipse 26"/>
                <p:cNvSpPr/>
                <p:nvPr/>
              </p:nvSpPr>
              <p:spPr>
                <a:xfrm>
                  <a:off x="3095625" y="2114550"/>
                  <a:ext cx="95250" cy="95250"/>
                </a:xfrm>
                <a:prstGeom prst="ellipse">
                  <a:avLst/>
                </a:prstGeom>
                <a:solidFill>
                  <a:srgbClr val="1C6DBE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Ellipse 27"/>
                <p:cNvSpPr/>
                <p:nvPr/>
              </p:nvSpPr>
              <p:spPr>
                <a:xfrm>
                  <a:off x="4810125" y="2057400"/>
                  <a:ext cx="95250" cy="95250"/>
                </a:xfrm>
                <a:prstGeom prst="ellipse">
                  <a:avLst/>
                </a:prstGeom>
                <a:solidFill>
                  <a:srgbClr val="1C6DBE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6524625" y="2019300"/>
                  <a:ext cx="95250" cy="95250"/>
                </a:xfrm>
                <a:prstGeom prst="ellipse">
                  <a:avLst/>
                </a:prstGeom>
                <a:solidFill>
                  <a:srgbClr val="1C6DBE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Ellipse 29"/>
                <p:cNvSpPr/>
                <p:nvPr/>
              </p:nvSpPr>
              <p:spPr>
                <a:xfrm>
                  <a:off x="8239125" y="1981200"/>
                  <a:ext cx="95250" cy="95250"/>
                </a:xfrm>
                <a:prstGeom prst="ellipse">
                  <a:avLst/>
                </a:prstGeom>
                <a:solidFill>
                  <a:srgbClr val="1C6DBE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9953625" y="1943100"/>
                  <a:ext cx="95250" cy="95250"/>
                </a:xfrm>
                <a:prstGeom prst="ellipse">
                  <a:avLst/>
                </a:prstGeom>
                <a:solidFill>
                  <a:srgbClr val="1C6DBE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10801350" y="1905000"/>
                  <a:ext cx="114300" cy="114300"/>
                </a:xfrm>
                <a:prstGeom prst="ellipse">
                  <a:avLst/>
                </a:prstGeom>
                <a:solidFill>
                  <a:srgbClr val="1C6DBE"/>
                </a:solidFill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3" name="Polyline 33"/>
              <p:cNvSpPr/>
              <p:nvPr/>
            </p:nvSpPr>
            <p:spPr>
              <a:xfrm>
                <a:off x="1428750" y="3476625"/>
                <a:ext cx="942975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9429750" h="314325">
                    <a:moveTo>
                      <a:pt x="0" y="314325"/>
                    </a:moveTo>
                    <a:lnTo>
                      <a:pt x="857250" y="285750"/>
                    </a:lnTo>
                    <a:lnTo>
                      <a:pt x="1714500" y="257175"/>
                    </a:lnTo>
                    <a:lnTo>
                      <a:pt x="2571750" y="228600"/>
                    </a:lnTo>
                    <a:lnTo>
                      <a:pt x="3429000" y="200025"/>
                    </a:lnTo>
                    <a:lnTo>
                      <a:pt x="4286250" y="171450"/>
                    </a:lnTo>
                    <a:lnTo>
                      <a:pt x="5143500" y="142875"/>
                    </a:lnTo>
                    <a:lnTo>
                      <a:pt x="6000750" y="114300"/>
                    </a:lnTo>
                    <a:lnTo>
                      <a:pt x="6858000" y="95250"/>
                    </a:lnTo>
                    <a:lnTo>
                      <a:pt x="7715250" y="76200"/>
                    </a:lnTo>
                    <a:lnTo>
                      <a:pt x="8572500" y="38100"/>
                    </a:lnTo>
                    <a:lnTo>
                      <a:pt x="9429750" y="0"/>
                    </a:lnTo>
                  </a:path>
                </a:pathLst>
              </a:custGeom>
              <a:noFill/>
              <a:ln w="38100" cap="rnd">
                <a:solidFill>
                  <a:srgbClr val="16B8A6"/>
                </a:solidFill>
                <a:round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1381125" y="3419475"/>
                <a:ext cx="9534525" cy="419100"/>
                <a:chOff x="1381125" y="3419475"/>
                <a:chExt cx="9534525" cy="419100"/>
              </a:xfrm>
            </p:grpSpPr>
            <p:sp>
              <p:nvSpPr>
                <p:cNvPr id="34" name="Ellipse 34"/>
                <p:cNvSpPr/>
                <p:nvPr/>
              </p:nvSpPr>
              <p:spPr>
                <a:xfrm>
                  <a:off x="1381125" y="3743325"/>
                  <a:ext cx="95250" cy="95250"/>
                </a:xfrm>
                <a:prstGeom prst="ellipse">
                  <a:avLst/>
                </a:prstGeom>
                <a:solidFill>
                  <a:srgbClr val="16B8A6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Ellipse 35"/>
                <p:cNvSpPr/>
                <p:nvPr/>
              </p:nvSpPr>
              <p:spPr>
                <a:xfrm>
                  <a:off x="3095625" y="3686175"/>
                  <a:ext cx="95250" cy="95250"/>
                </a:xfrm>
                <a:prstGeom prst="ellipse">
                  <a:avLst/>
                </a:prstGeom>
                <a:solidFill>
                  <a:srgbClr val="16B8A6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6" name="Ellipse 36"/>
                <p:cNvSpPr/>
                <p:nvPr/>
              </p:nvSpPr>
              <p:spPr>
                <a:xfrm>
                  <a:off x="4810125" y="3629025"/>
                  <a:ext cx="95250" cy="95250"/>
                </a:xfrm>
                <a:prstGeom prst="ellipse">
                  <a:avLst/>
                </a:prstGeom>
                <a:solidFill>
                  <a:srgbClr val="16B8A6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7" name="Ellipse 37"/>
                <p:cNvSpPr/>
                <p:nvPr/>
              </p:nvSpPr>
              <p:spPr>
                <a:xfrm>
                  <a:off x="6524625" y="3571875"/>
                  <a:ext cx="95250" cy="95250"/>
                </a:xfrm>
                <a:prstGeom prst="ellipse">
                  <a:avLst/>
                </a:prstGeom>
                <a:solidFill>
                  <a:srgbClr val="16B8A6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Ellipse 38"/>
                <p:cNvSpPr/>
                <p:nvPr/>
              </p:nvSpPr>
              <p:spPr>
                <a:xfrm>
                  <a:off x="8239125" y="3524250"/>
                  <a:ext cx="95250" cy="95250"/>
                </a:xfrm>
                <a:prstGeom prst="ellipse">
                  <a:avLst/>
                </a:prstGeom>
                <a:solidFill>
                  <a:srgbClr val="16B8A6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9" name="Ellipse 39"/>
                <p:cNvSpPr/>
                <p:nvPr/>
              </p:nvSpPr>
              <p:spPr>
                <a:xfrm>
                  <a:off x="9953625" y="3467100"/>
                  <a:ext cx="95250" cy="95250"/>
                </a:xfrm>
                <a:prstGeom prst="ellipse">
                  <a:avLst/>
                </a:prstGeom>
                <a:solidFill>
                  <a:srgbClr val="16B8A6"/>
                </a:solidFill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0" name="Ellipse 40"/>
                <p:cNvSpPr/>
                <p:nvPr/>
              </p:nvSpPr>
              <p:spPr>
                <a:xfrm>
                  <a:off x="10801350" y="3419475"/>
                  <a:ext cx="114300" cy="114300"/>
                </a:xfrm>
                <a:prstGeom prst="ellipse">
                  <a:avLst/>
                </a:prstGeom>
                <a:solidFill>
                  <a:srgbClr val="16B8A6"/>
                </a:solidFill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0947654" y="1775460"/>
                <a:ext cx="1021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C6DBE"/>
                    </a:solidFill>
                    <a:latin typeface="Segoe UI"/>
                    <a:ea typeface="Microsoft YaHei"/>
                    <a:cs typeface="Segoe UI"/>
                  </a:rPr>
                  <a:t>核心区 5.9万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947654" y="3299460"/>
                <a:ext cx="9451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6B8A6"/>
                    </a:solidFill>
                    <a:latin typeface="Segoe UI"/>
                    <a:ea typeface="Microsoft YaHei"/>
                    <a:cs typeface="Segoe UI"/>
                  </a:rPr>
                  <a:t>城东 3.25万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1428750" y="5893118"/>
            <a:ext cx="9642824" cy="264033"/>
            <a:chOff x="1428750" y="5893118"/>
            <a:chExt cx="9642824" cy="264033"/>
          </a:xfrm>
        </p:grpSpPr>
        <p:sp>
          <p:nvSpPr>
            <p:cNvPr id="46" name="Line 46"/>
            <p:cNvSpPr/>
            <p:nvPr/>
          </p:nvSpPr>
          <p:spPr>
            <a:xfrm>
              <a:off x="1428750" y="59817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38100" cap="rnd">
              <a:solidFill>
                <a:srgbClr val="1C6DBE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533525" y="5934075"/>
              <a:ext cx="95250" cy="95250"/>
            </a:xfrm>
            <a:prstGeom prst="ellipse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860042" y="58931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核心区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2857500" y="59817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38100" cap="rnd">
              <a:solidFill>
                <a:srgbClr val="16B8A6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2962275" y="5934075"/>
              <a:ext cx="95250" cy="9525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288792" y="58931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城东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69892" y="5893118"/>
              <a:ext cx="6601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核心区高位微涨，城东稳步补涨——支持同比 / 环比、多区域叠加，识别趋势拐点。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5904" y="6385560"/>
            <a:ext cx="53512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0"/>
                </a:solidFill>
                <a:latin typeface="Segoe UI"/>
                <a:ea typeface="Microsoft YaHei"/>
                <a:cs typeface="Segoe UI"/>
              </a:rPr>
              <a:t>图为示例数据，真实数值由采集流水线产出 | 城市房价分析系统 · 产品发布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6923437" cy="830389"/>
            <a:chOff x="533400" y="438150"/>
            <a:chExt cx="6923437" cy="830389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441008"/>
              <a:ext cx="67108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系统架构：四层，把网页变成洞察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3618" y="945832"/>
              <a:ext cx="41088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 xml:space="preserve">自下而上 </a:t>
              </a:r>
              <a:r>
                <a:rPr lang="zh-CN" sz="165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采集 → 数据 → 分析预测 → 应用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1428750"/>
            <a:ext cx="11125200" cy="990600"/>
            <a:chOff x="533400" y="1428750"/>
            <a:chExt cx="11125200" cy="990600"/>
          </a:xfrm>
        </p:grpSpPr>
        <p:sp>
          <p:nvSpPr>
            <p:cNvPr id="7" name="Rectangle 7"/>
            <p:cNvSpPr/>
            <p:nvPr/>
          </p:nvSpPr>
          <p:spPr>
            <a:xfrm>
              <a:off x="533400" y="1428750"/>
              <a:ext cx="495300" cy="990600"/>
            </a:xfrm>
            <a:prstGeom prst="roundRect">
              <a:avLst>
                <a:gd name="adj" fmla="val 19231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654050" y="1822450"/>
              <a:ext cx="253999" cy="203199"/>
            </a:xfrm>
            <a:custGeom>
              <a:avLst/>
              <a:gdLst/>
              <a:ahLst/>
              <a:cxnLst/>
              <a:rect l="l" t="t" r="r" b="b"/>
              <a:pathLst>
                <a:path w="253999" h="203199">
                  <a:moveTo>
                    <a:pt x="215899" y="0"/>
                  </a:moveTo>
                  <a:cubicBezTo>
                    <a:pt x="236941" y="0"/>
                    <a:pt x="253999" y="17058"/>
                    <a:pt x="253999" y="38100"/>
                  </a:cubicBezTo>
                  <a:lnTo>
                    <a:pt x="253999" y="165100"/>
                  </a:lnTo>
                  <a:cubicBezTo>
                    <a:pt x="253999" y="186142"/>
                    <a:pt x="236941" y="203199"/>
                    <a:pt x="215899" y="203199"/>
                  </a:cubicBezTo>
                  <a:lnTo>
                    <a:pt x="38100" y="203199"/>
                  </a:lnTo>
                  <a:cubicBezTo>
                    <a:pt x="17058" y="203199"/>
                    <a:pt x="0" y="186142"/>
                    <a:pt x="0" y="165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50927" y="38100"/>
                  </a:moveTo>
                  <a:lnTo>
                    <a:pt x="49314" y="38189"/>
                  </a:lnTo>
                  <a:cubicBezTo>
                    <a:pt x="42642" y="38982"/>
                    <a:pt x="37742" y="44836"/>
                    <a:pt x="38136" y="51544"/>
                  </a:cubicBezTo>
                  <a:cubicBezTo>
                    <a:pt x="38530" y="58252"/>
                    <a:pt x="44080" y="63492"/>
                    <a:pt x="50800" y="63500"/>
                  </a:cubicBezTo>
                  <a:lnTo>
                    <a:pt x="52413" y="63411"/>
                  </a:lnTo>
                  <a:cubicBezTo>
                    <a:pt x="59085" y="62617"/>
                    <a:pt x="63985" y="56764"/>
                    <a:pt x="63591" y="50056"/>
                  </a:cubicBezTo>
                  <a:cubicBezTo>
                    <a:pt x="63197" y="43348"/>
                    <a:pt x="57646" y="38107"/>
                    <a:pt x="50927" y="38100"/>
                  </a:cubicBezTo>
                  <a:close/>
                  <a:moveTo>
                    <a:pt x="89027" y="38100"/>
                  </a:moveTo>
                  <a:lnTo>
                    <a:pt x="87414" y="38189"/>
                  </a:lnTo>
                  <a:cubicBezTo>
                    <a:pt x="80741" y="38982"/>
                    <a:pt x="75842" y="44836"/>
                    <a:pt x="76236" y="51544"/>
                  </a:cubicBezTo>
                  <a:cubicBezTo>
                    <a:pt x="76630" y="58252"/>
                    <a:pt x="82180" y="63492"/>
                    <a:pt x="88900" y="63500"/>
                  </a:cubicBezTo>
                  <a:lnTo>
                    <a:pt x="90513" y="63411"/>
                  </a:lnTo>
                  <a:cubicBezTo>
                    <a:pt x="97185" y="62617"/>
                    <a:pt x="102085" y="56764"/>
                    <a:pt x="101691" y="50056"/>
                  </a:cubicBezTo>
                  <a:cubicBezTo>
                    <a:pt x="101297" y="43348"/>
                    <a:pt x="95746" y="38107"/>
                    <a:pt x="89027" y="38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143000" y="1428750"/>
              <a:ext cx="10515600" cy="990600"/>
            </a:xfrm>
            <a:prstGeom prst="roundRect">
              <a:avLst>
                <a:gd name="adj" fmla="val 11538"/>
              </a:avLst>
            </a:prstGeom>
            <a:solidFill>
              <a:srgbClr val="EAF2FB"/>
            </a:solidFill>
            <a:ln w="14288">
              <a:solidFill>
                <a:srgbClr val="B9D3EC"/>
              </a:solidFill>
              <a:custDash>
                <a:ds d="400000" sp="266666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81506" y="16725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应用层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4554" y="2004060"/>
              <a:ext cx="6952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Web 展示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238500" y="16192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21380" y="1724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后端框架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2904" y="1985010"/>
              <a:ext cx="1105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672"/>
                  </a:solidFill>
                  <a:latin typeface="Consolas"/>
                  <a:ea typeface="Consolas"/>
                  <a:cs typeface="Consolas"/>
                </a:rPr>
                <a:t>Flask / Django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43525" y="16192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26405" y="1724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前端图表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27929" y="1985010"/>
              <a:ext cx="644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672"/>
                  </a:solidFill>
                  <a:latin typeface="Consolas"/>
                  <a:ea typeface="Consolas"/>
                  <a:cs typeface="Consolas"/>
                </a:rPr>
                <a:t>ECharts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448550" y="16192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31430" y="172402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用户 / 角色权限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32954" y="198501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登录 · 分级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53575" y="16192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36455" y="1724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后台管理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37979" y="1985010"/>
              <a:ext cx="780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数据 CRUD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" y="2533650"/>
            <a:ext cx="11125200" cy="990600"/>
            <a:chOff x="533400" y="2533650"/>
            <a:chExt cx="11125200" cy="990600"/>
          </a:xfrm>
        </p:grpSpPr>
        <p:sp>
          <p:nvSpPr>
            <p:cNvPr id="25" name="Rectangle 25"/>
            <p:cNvSpPr/>
            <p:nvPr/>
          </p:nvSpPr>
          <p:spPr>
            <a:xfrm>
              <a:off x="533400" y="2533650"/>
              <a:ext cx="495300" cy="990600"/>
            </a:xfrm>
            <a:prstGeom prst="roundRect">
              <a:avLst>
                <a:gd name="adj" fmla="val 19231"/>
              </a:avLst>
            </a:prstGeom>
            <a:solidFill>
              <a:srgbClr val="16B8A6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66148" y="2910904"/>
              <a:ext cx="231063" cy="240263"/>
              <a:chOff x="666148" y="2910904"/>
              <a:chExt cx="231063" cy="24026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66148" y="3028517"/>
                <a:ext cx="231063" cy="122650"/>
              </a:xfrm>
              <a:custGeom>
                <a:avLst/>
                <a:gdLst/>
                <a:ahLst/>
                <a:cxnLst/>
                <a:rect l="l" t="t" r="r" b="b"/>
                <a:pathLst>
                  <a:path w="231063" h="122650">
                    <a:moveTo>
                      <a:pt x="25875" y="11380"/>
                    </a:moveTo>
                    <a:cubicBezTo>
                      <a:pt x="30630" y="45657"/>
                      <a:pt x="54584" y="74189"/>
                      <a:pt x="87520" y="84808"/>
                    </a:cubicBezTo>
                    <a:cubicBezTo>
                      <a:pt x="120457" y="95427"/>
                      <a:pt x="156565" y="86259"/>
                      <a:pt x="180446" y="61215"/>
                    </a:cubicBezTo>
                    <a:cubicBezTo>
                      <a:pt x="179335" y="58649"/>
                      <a:pt x="178665" y="55914"/>
                      <a:pt x="178465" y="53125"/>
                    </a:cubicBezTo>
                    <a:lnTo>
                      <a:pt x="178401" y="51232"/>
                    </a:lnTo>
                    <a:lnTo>
                      <a:pt x="178465" y="49327"/>
                    </a:lnTo>
                    <a:cubicBezTo>
                      <a:pt x="179241" y="38995"/>
                      <a:pt x="186214" y="30170"/>
                      <a:pt x="196087" y="27026"/>
                    </a:cubicBezTo>
                    <a:cubicBezTo>
                      <a:pt x="205960" y="23883"/>
                      <a:pt x="216753" y="27051"/>
                      <a:pt x="223360" y="35032"/>
                    </a:cubicBezTo>
                    <a:cubicBezTo>
                      <a:pt x="229966" y="43014"/>
                      <a:pt x="231063" y="54208"/>
                      <a:pt x="226131" y="63320"/>
                    </a:cubicBezTo>
                    <a:cubicBezTo>
                      <a:pt x="221199" y="72432"/>
                      <a:pt x="211226" y="77635"/>
                      <a:pt x="200931" y="76467"/>
                    </a:cubicBezTo>
                    <a:cubicBezTo>
                      <a:pt x="170822" y="109790"/>
                      <a:pt x="124134" y="122650"/>
                      <a:pt x="81209" y="109443"/>
                    </a:cubicBezTo>
                    <a:cubicBezTo>
                      <a:pt x="38285" y="96237"/>
                      <a:pt x="6899" y="59357"/>
                      <a:pt x="729" y="14872"/>
                    </a:cubicBezTo>
                    <a:cubicBezTo>
                      <a:pt x="0" y="8053"/>
                      <a:pt x="4817" y="1887"/>
                      <a:pt x="11610" y="943"/>
                    </a:cubicBezTo>
                    <a:cubicBezTo>
                      <a:pt x="18403" y="0"/>
                      <a:pt x="24718" y="4620"/>
                      <a:pt x="25875" y="1138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30250" y="2978150"/>
                <a:ext cx="102055" cy="102496"/>
              </a:xfrm>
              <a:custGeom>
                <a:avLst/>
                <a:gdLst/>
                <a:ahLst/>
                <a:cxnLst/>
                <a:rect l="l" t="t" r="r" b="b"/>
                <a:pathLst>
                  <a:path w="102055" h="102496">
                    <a:moveTo>
                      <a:pt x="50800" y="0"/>
                    </a:moveTo>
                    <a:cubicBezTo>
                      <a:pt x="78526" y="0"/>
                      <a:pt x="101130" y="22231"/>
                      <a:pt x="101593" y="49953"/>
                    </a:cubicBezTo>
                    <a:cubicBezTo>
                      <a:pt x="102055" y="77675"/>
                      <a:pt x="80204" y="100647"/>
                      <a:pt x="52494" y="101572"/>
                    </a:cubicBezTo>
                    <a:cubicBezTo>
                      <a:pt x="24783" y="102496"/>
                      <a:pt x="1450" y="81031"/>
                      <a:pt x="63" y="53340"/>
                    </a:cubicBezTo>
                    <a:lnTo>
                      <a:pt x="0" y="50800"/>
                    </a:lnTo>
                    <a:lnTo>
                      <a:pt x="63" y="48260"/>
                    </a:lnTo>
                    <a:cubicBezTo>
                      <a:pt x="1417" y="21225"/>
                      <a:pt x="23731" y="0"/>
                      <a:pt x="50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6750" y="2910904"/>
                <a:ext cx="229221" cy="118504"/>
              </a:xfrm>
              <a:custGeom>
                <a:avLst/>
                <a:gdLst/>
                <a:ahLst/>
                <a:cxnLst/>
                <a:rect l="l" t="t" r="r" b="b"/>
                <a:pathLst>
                  <a:path w="229221" h="118504">
                    <a:moveTo>
                      <a:pt x="128803" y="4888"/>
                    </a:moveTo>
                    <a:cubicBezTo>
                      <a:pt x="180478" y="11561"/>
                      <a:pt x="221298" y="51985"/>
                      <a:pt x="228472" y="103593"/>
                    </a:cubicBezTo>
                    <a:cubicBezTo>
                      <a:pt x="229221" y="110421"/>
                      <a:pt x="224405" y="116607"/>
                      <a:pt x="217602" y="117556"/>
                    </a:cubicBezTo>
                    <a:cubicBezTo>
                      <a:pt x="210798" y="118504"/>
                      <a:pt x="204474" y="113871"/>
                      <a:pt x="203326" y="107098"/>
                    </a:cubicBezTo>
                    <a:cubicBezTo>
                      <a:pt x="197727" y="66825"/>
                      <a:pt x="165866" y="35281"/>
                      <a:pt x="125539" y="30085"/>
                    </a:cubicBezTo>
                    <a:cubicBezTo>
                      <a:pt x="97077" y="26380"/>
                      <a:pt x="68552" y="36454"/>
                      <a:pt x="48730" y="57212"/>
                    </a:cubicBezTo>
                    <a:cubicBezTo>
                      <a:pt x="52728" y="66479"/>
                      <a:pt x="50860" y="77233"/>
                      <a:pt x="43972" y="84610"/>
                    </a:cubicBezTo>
                    <a:cubicBezTo>
                      <a:pt x="37084" y="91986"/>
                      <a:pt x="26482" y="94584"/>
                      <a:pt x="16964" y="91229"/>
                    </a:cubicBezTo>
                    <a:cubicBezTo>
                      <a:pt x="7446" y="87874"/>
                      <a:pt x="817" y="79203"/>
                      <a:pt x="76" y="69138"/>
                    </a:cubicBezTo>
                    <a:lnTo>
                      <a:pt x="0" y="67245"/>
                    </a:lnTo>
                    <a:lnTo>
                      <a:pt x="63" y="65340"/>
                    </a:lnTo>
                    <a:cubicBezTo>
                      <a:pt x="580" y="58464"/>
                      <a:pt x="3869" y="52093"/>
                      <a:pt x="9177" y="47691"/>
                    </a:cubicBezTo>
                    <a:cubicBezTo>
                      <a:pt x="14484" y="43289"/>
                      <a:pt x="21354" y="41234"/>
                      <a:pt x="28207" y="41998"/>
                    </a:cubicBezTo>
                    <a:cubicBezTo>
                      <a:pt x="53617" y="13869"/>
                      <a:pt x="91213" y="0"/>
                      <a:pt x="128803" y="48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0" name="Rectangle 30"/>
            <p:cNvSpPr/>
            <p:nvPr/>
          </p:nvSpPr>
          <p:spPr>
            <a:xfrm>
              <a:off x="1143000" y="2533650"/>
              <a:ext cx="10515600" cy="990600"/>
            </a:xfrm>
            <a:prstGeom prst="roundRect">
              <a:avLst>
                <a:gd name="adj" fmla="val 11538"/>
              </a:avLst>
            </a:prstGeom>
            <a:solidFill>
              <a:srgbClr val="E4F7F4"/>
            </a:solidFill>
            <a:ln w="14288">
              <a:solidFill>
                <a:srgbClr val="A6E4DC"/>
              </a:solidFill>
              <a:custDash>
                <a:ds d="400000" sp="266666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81506" y="27774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E9C8C"/>
                  </a:solidFill>
                  <a:latin typeface="Segoe UI"/>
                  <a:ea typeface="Microsoft YaHei"/>
                  <a:cs typeface="Segoe UI"/>
                </a:rPr>
                <a:t>分析预测层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84554" y="31089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算 · 画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38500" y="27241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21380" y="28289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数据分析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22904" y="3089910"/>
              <a:ext cx="1207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672"/>
                  </a:solidFill>
                  <a:latin typeface="Consolas"/>
                  <a:ea typeface="Consolas"/>
                  <a:cs typeface="Consolas"/>
                </a:rPr>
                <a:t>pandas / numpy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43525" y="27241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526405" y="28289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机器学习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27929" y="308991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672"/>
                  </a:solidFill>
                  <a:latin typeface="Consolas"/>
                  <a:ea typeface="Consolas"/>
                  <a:cs typeface="Consolas"/>
                </a:rPr>
                <a:t>scikit-learn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448550" y="27241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31430" y="28289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可视化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32954" y="308991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672"/>
                  </a:solidFill>
                  <a:latin typeface="Consolas"/>
                  <a:ea typeface="Consolas"/>
                  <a:cs typeface="Consolas"/>
                </a:rPr>
                <a:t>pyecharts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553575" y="27241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36455" y="28289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地图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37979" y="3089910"/>
              <a:ext cx="80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Geo / 热力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33400" y="3638550"/>
            <a:ext cx="11125200" cy="990600"/>
            <a:chOff x="533400" y="3638550"/>
            <a:chExt cx="11125200" cy="990600"/>
          </a:xfrm>
        </p:grpSpPr>
        <p:sp>
          <p:nvSpPr>
            <p:cNvPr id="46" name="Rectangle 46"/>
            <p:cNvSpPr/>
            <p:nvPr/>
          </p:nvSpPr>
          <p:spPr>
            <a:xfrm>
              <a:off x="533400" y="3638550"/>
              <a:ext cx="495300" cy="990600"/>
            </a:xfrm>
            <a:prstGeom prst="roundRect">
              <a:avLst>
                <a:gd name="adj" fmla="val 19231"/>
              </a:avLst>
            </a:prstGeom>
            <a:solidFill>
              <a:srgbClr val="5AA0DC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66749" y="4006850"/>
              <a:ext cx="228600" cy="253999"/>
              <a:chOff x="666749" y="4006850"/>
              <a:chExt cx="228600" cy="253999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66750" y="4181233"/>
                <a:ext cx="228599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7" y="19164"/>
                      <a:pt x="228599" y="216"/>
                    </a:cubicBezTo>
                    <a:lnTo>
                      <a:pt x="228599" y="28816"/>
                    </a:lnTo>
                    <a:cubicBezTo>
                      <a:pt x="228599" y="59614"/>
                      <a:pt x="179133" y="78803"/>
                      <a:pt x="118199" y="79591"/>
                    </a:cubicBezTo>
                    <a:lnTo>
                      <a:pt x="114300" y="79616"/>
                    </a:lnTo>
                    <a:cubicBezTo>
                      <a:pt x="51587" y="79616"/>
                      <a:pt x="0" y="60274"/>
                      <a:pt x="0" y="288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6750" y="4105033"/>
                <a:ext cx="228599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7" y="19164"/>
                      <a:pt x="228599" y="216"/>
                    </a:cubicBezTo>
                    <a:lnTo>
                      <a:pt x="228599" y="28816"/>
                    </a:lnTo>
                    <a:cubicBezTo>
                      <a:pt x="228599" y="60274"/>
                      <a:pt x="177012" y="79616"/>
                      <a:pt x="114300" y="79616"/>
                    </a:cubicBezTo>
                    <a:cubicBezTo>
                      <a:pt x="53365" y="79616"/>
                      <a:pt x="2921" y="61354"/>
                      <a:pt x="267" y="31420"/>
                    </a:cubicBezTo>
                    <a:lnTo>
                      <a:pt x="63" y="30137"/>
                    </a:lnTo>
                    <a:lnTo>
                      <a:pt x="0" y="288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6749" y="40068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114301" y="0"/>
                    </a:moveTo>
                    <a:cubicBezTo>
                      <a:pt x="127521" y="0"/>
                      <a:pt x="140259" y="864"/>
                      <a:pt x="152109" y="2515"/>
                    </a:cubicBezTo>
                    <a:lnTo>
                      <a:pt x="158065" y="3416"/>
                    </a:lnTo>
                    <a:cubicBezTo>
                      <a:pt x="165177" y="4602"/>
                      <a:pt x="171891" y="6075"/>
                      <a:pt x="178207" y="7836"/>
                    </a:cubicBezTo>
                    <a:lnTo>
                      <a:pt x="183795" y="9500"/>
                    </a:lnTo>
                    <a:lnTo>
                      <a:pt x="184747" y="9804"/>
                    </a:lnTo>
                    <a:cubicBezTo>
                      <a:pt x="188204" y="10941"/>
                      <a:pt x="191614" y="12212"/>
                      <a:pt x="194971" y="13614"/>
                    </a:cubicBezTo>
                    <a:lnTo>
                      <a:pt x="197498" y="14707"/>
                    </a:lnTo>
                    <a:cubicBezTo>
                      <a:pt x="202028" y="16755"/>
                      <a:pt x="206121" y="18999"/>
                      <a:pt x="209779" y="21438"/>
                    </a:cubicBezTo>
                    <a:cubicBezTo>
                      <a:pt x="211176" y="22369"/>
                      <a:pt x="212501" y="23321"/>
                      <a:pt x="213754" y="24295"/>
                    </a:cubicBezTo>
                    <a:cubicBezTo>
                      <a:pt x="216928" y="26758"/>
                      <a:pt x="219783" y="29608"/>
                      <a:pt x="222250" y="32779"/>
                    </a:cubicBezTo>
                    <a:lnTo>
                      <a:pt x="223406" y="34404"/>
                    </a:lnTo>
                    <a:cubicBezTo>
                      <a:pt x="223999" y="35293"/>
                      <a:pt x="224545" y="36186"/>
                      <a:pt x="225044" y="37084"/>
                    </a:cubicBezTo>
                    <a:lnTo>
                      <a:pt x="225933" y="38849"/>
                    </a:lnTo>
                    <a:cubicBezTo>
                      <a:pt x="227313" y="41813"/>
                      <a:pt x="228160" y="44903"/>
                      <a:pt x="228473" y="48120"/>
                    </a:cubicBezTo>
                    <a:lnTo>
                      <a:pt x="228600" y="50800"/>
                    </a:lnTo>
                    <a:cubicBezTo>
                      <a:pt x="228600" y="82258"/>
                      <a:pt x="177013" y="101600"/>
                      <a:pt x="114301" y="101600"/>
                    </a:cubicBezTo>
                    <a:cubicBezTo>
                      <a:pt x="53366" y="101600"/>
                      <a:pt x="2922" y="83337"/>
                      <a:pt x="268" y="53403"/>
                    </a:cubicBezTo>
                    <a:cubicBezTo>
                      <a:pt x="89" y="52547"/>
                      <a:pt x="0" y="51675"/>
                      <a:pt x="1" y="50800"/>
                    </a:cubicBezTo>
                    <a:lnTo>
                      <a:pt x="64" y="49479"/>
                    </a:lnTo>
                    <a:lnTo>
                      <a:pt x="268" y="48209"/>
                    </a:lnTo>
                    <a:cubicBezTo>
                      <a:pt x="2871" y="18923"/>
                      <a:pt x="51195" y="800"/>
                      <a:pt x="110338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1" name="Rectangle 51"/>
            <p:cNvSpPr/>
            <p:nvPr/>
          </p:nvSpPr>
          <p:spPr>
            <a:xfrm>
              <a:off x="1143000" y="3638550"/>
              <a:ext cx="10515600" cy="990600"/>
            </a:xfrm>
            <a:prstGeom prst="roundRect">
              <a:avLst>
                <a:gd name="adj" fmla="val 11538"/>
              </a:avLst>
            </a:prstGeom>
            <a:solidFill>
              <a:srgbClr val="EAF3FB"/>
            </a:solidFill>
            <a:ln w="14288">
              <a:solidFill>
                <a:srgbClr val="BAD6EE"/>
              </a:solidFill>
              <a:custDash>
                <a:ds d="400000" sp="266666"/>
              </a:custDash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381506" y="38823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E82C4"/>
                  </a:solidFill>
                  <a:latin typeface="Segoe UI"/>
                  <a:ea typeface="Microsoft YaHei"/>
                  <a:cs typeface="Segoe UI"/>
                </a:rPr>
                <a:t>数据层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84554" y="42138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存 · 整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238500" y="3829050"/>
              <a:ext cx="26670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421380" y="3933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数据清洗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422904" y="4194810"/>
              <a:ext cx="1587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Consolas"/>
                  <a:ea typeface="Microsoft YaHei"/>
                  <a:cs typeface="Consolas"/>
                </a:rPr>
                <a:t>pandas 去重 / 缺失值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8850" y="3829050"/>
              <a:ext cx="26670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21730" y="3933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特征工程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3254" y="4194810"/>
              <a:ext cx="167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面积 / 房龄 / 区域编码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39200" y="3829050"/>
              <a:ext cx="268605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022080" y="39338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存储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23604" y="4194810"/>
              <a:ext cx="17517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672"/>
                  </a:solidFill>
                  <a:latin typeface="Consolas"/>
                  <a:ea typeface="Consolas"/>
                  <a:cs typeface="Consolas"/>
                </a:rPr>
                <a:t>CSV / SQLite / MySQL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33400" y="4743450"/>
            <a:ext cx="11125200" cy="990600"/>
            <a:chOff x="533400" y="4743450"/>
            <a:chExt cx="11125200" cy="990600"/>
          </a:xfrm>
        </p:grpSpPr>
        <p:sp>
          <p:nvSpPr>
            <p:cNvPr id="64" name="Rectangle 64"/>
            <p:cNvSpPr/>
            <p:nvPr/>
          </p:nvSpPr>
          <p:spPr>
            <a:xfrm>
              <a:off x="533400" y="4743450"/>
              <a:ext cx="495300" cy="990600"/>
            </a:xfrm>
            <a:prstGeom prst="roundRect">
              <a:avLst>
                <a:gd name="adj" fmla="val 19231"/>
              </a:avLst>
            </a:prstGeom>
            <a:solidFill>
              <a:srgbClr val="164E7E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646608" y="5124450"/>
              <a:ext cx="268883" cy="215899"/>
            </a:xfrm>
            <a:custGeom>
              <a:avLst/>
              <a:gdLst/>
              <a:ahLst/>
              <a:cxnLst/>
              <a:rect l="l" t="t" r="r" b="b"/>
              <a:pathLst>
                <a:path w="268883" h="215899">
                  <a:moveTo>
                    <a:pt x="223341" y="0"/>
                  </a:moveTo>
                  <a:cubicBezTo>
                    <a:pt x="230355" y="0"/>
                    <a:pt x="236041" y="5686"/>
                    <a:pt x="236041" y="12700"/>
                  </a:cubicBezTo>
                  <a:lnTo>
                    <a:pt x="236041" y="38100"/>
                  </a:lnTo>
                  <a:cubicBezTo>
                    <a:pt x="236041" y="41468"/>
                    <a:pt x="234702" y="44698"/>
                    <a:pt x="232320" y="47079"/>
                  </a:cubicBezTo>
                  <a:lnTo>
                    <a:pt x="190499" y="88900"/>
                  </a:lnTo>
                  <a:lnTo>
                    <a:pt x="230758" y="88900"/>
                  </a:lnTo>
                  <a:lnTo>
                    <a:pt x="246112" y="73571"/>
                  </a:lnTo>
                  <a:cubicBezTo>
                    <a:pt x="251096" y="68758"/>
                    <a:pt x="259017" y="68827"/>
                    <a:pt x="263915" y="73726"/>
                  </a:cubicBezTo>
                  <a:cubicBezTo>
                    <a:pt x="268814" y="78624"/>
                    <a:pt x="268883" y="86545"/>
                    <a:pt x="264070" y="91529"/>
                  </a:cubicBezTo>
                  <a:lnTo>
                    <a:pt x="245020" y="110579"/>
                  </a:lnTo>
                  <a:cubicBezTo>
                    <a:pt x="242639" y="112960"/>
                    <a:pt x="239409" y="114299"/>
                    <a:pt x="236041" y="114300"/>
                  </a:cubicBezTo>
                  <a:lnTo>
                    <a:pt x="190512" y="114300"/>
                  </a:lnTo>
                  <a:lnTo>
                    <a:pt x="245020" y="168821"/>
                  </a:lnTo>
                  <a:cubicBezTo>
                    <a:pt x="247402" y="171202"/>
                    <a:pt x="248741" y="174432"/>
                    <a:pt x="248741" y="177800"/>
                  </a:cubicBezTo>
                  <a:lnTo>
                    <a:pt x="248741" y="203199"/>
                  </a:lnTo>
                  <a:cubicBezTo>
                    <a:pt x="248741" y="210213"/>
                    <a:pt x="243055" y="215899"/>
                    <a:pt x="236041" y="215899"/>
                  </a:cubicBezTo>
                  <a:cubicBezTo>
                    <a:pt x="229027" y="215899"/>
                    <a:pt x="223341" y="210213"/>
                    <a:pt x="223341" y="203199"/>
                  </a:cubicBezTo>
                  <a:lnTo>
                    <a:pt x="223341" y="183070"/>
                  </a:lnTo>
                  <a:lnTo>
                    <a:pt x="197738" y="157467"/>
                  </a:lnTo>
                  <a:cubicBezTo>
                    <a:pt x="195092" y="190463"/>
                    <a:pt x="167543" y="215891"/>
                    <a:pt x="134442" y="215891"/>
                  </a:cubicBezTo>
                  <a:cubicBezTo>
                    <a:pt x="101340" y="215891"/>
                    <a:pt x="73791" y="190463"/>
                    <a:pt x="71145" y="157467"/>
                  </a:cubicBezTo>
                  <a:lnTo>
                    <a:pt x="45542" y="183057"/>
                  </a:lnTo>
                  <a:lnTo>
                    <a:pt x="45542" y="203199"/>
                  </a:lnTo>
                  <a:cubicBezTo>
                    <a:pt x="45541" y="209638"/>
                    <a:pt x="40722" y="215057"/>
                    <a:pt x="34328" y="215811"/>
                  </a:cubicBezTo>
                  <a:lnTo>
                    <a:pt x="32842" y="215899"/>
                  </a:lnTo>
                  <a:cubicBezTo>
                    <a:pt x="25828" y="215899"/>
                    <a:pt x="20142" y="210213"/>
                    <a:pt x="20142" y="203199"/>
                  </a:cubicBezTo>
                  <a:lnTo>
                    <a:pt x="20142" y="177800"/>
                  </a:lnTo>
                  <a:cubicBezTo>
                    <a:pt x="20143" y="174432"/>
                    <a:pt x="21481" y="171202"/>
                    <a:pt x="23863" y="168821"/>
                  </a:cubicBezTo>
                  <a:lnTo>
                    <a:pt x="78358" y="114300"/>
                  </a:lnTo>
                  <a:lnTo>
                    <a:pt x="32842" y="114300"/>
                  </a:lnTo>
                  <a:cubicBezTo>
                    <a:pt x="29474" y="114299"/>
                    <a:pt x="26244" y="112960"/>
                    <a:pt x="23863" y="110579"/>
                  </a:cubicBezTo>
                  <a:lnTo>
                    <a:pt x="4813" y="91529"/>
                  </a:lnTo>
                  <a:cubicBezTo>
                    <a:pt x="0" y="86545"/>
                    <a:pt x="69" y="78624"/>
                    <a:pt x="4968" y="73726"/>
                  </a:cubicBezTo>
                  <a:cubicBezTo>
                    <a:pt x="9866" y="68827"/>
                    <a:pt x="17787" y="68758"/>
                    <a:pt x="22771" y="73571"/>
                  </a:cubicBezTo>
                  <a:lnTo>
                    <a:pt x="38112" y="88900"/>
                  </a:lnTo>
                  <a:lnTo>
                    <a:pt x="78371" y="88900"/>
                  </a:lnTo>
                  <a:lnTo>
                    <a:pt x="36563" y="47079"/>
                  </a:lnTo>
                  <a:cubicBezTo>
                    <a:pt x="34181" y="44698"/>
                    <a:pt x="32842" y="41468"/>
                    <a:pt x="32842" y="38100"/>
                  </a:cubicBezTo>
                  <a:lnTo>
                    <a:pt x="32842" y="12700"/>
                  </a:lnTo>
                  <a:cubicBezTo>
                    <a:pt x="32842" y="5686"/>
                    <a:pt x="38528" y="0"/>
                    <a:pt x="45542" y="0"/>
                  </a:cubicBezTo>
                  <a:cubicBezTo>
                    <a:pt x="52556" y="0"/>
                    <a:pt x="58242" y="5686"/>
                    <a:pt x="58242" y="12700"/>
                  </a:cubicBezTo>
                  <a:lnTo>
                    <a:pt x="58242" y="32829"/>
                  </a:lnTo>
                  <a:lnTo>
                    <a:pt x="96659" y="71247"/>
                  </a:lnTo>
                  <a:cubicBezTo>
                    <a:pt x="99125" y="52262"/>
                    <a:pt x="115297" y="38055"/>
                    <a:pt x="134442" y="38055"/>
                  </a:cubicBezTo>
                  <a:cubicBezTo>
                    <a:pt x="153586" y="38055"/>
                    <a:pt x="169758" y="52262"/>
                    <a:pt x="172224" y="71247"/>
                  </a:cubicBezTo>
                  <a:lnTo>
                    <a:pt x="210641" y="32817"/>
                  </a:lnTo>
                  <a:lnTo>
                    <a:pt x="210641" y="12700"/>
                  </a:lnTo>
                  <a:cubicBezTo>
                    <a:pt x="210642" y="6261"/>
                    <a:pt x="215461" y="842"/>
                    <a:pt x="221855" y="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143000" y="4743450"/>
              <a:ext cx="10515600" cy="990600"/>
            </a:xfrm>
            <a:prstGeom prst="roundRect">
              <a:avLst>
                <a:gd name="adj" fmla="val 11538"/>
              </a:avLst>
            </a:prstGeom>
            <a:solidFill>
              <a:srgbClr val="EAF0F6"/>
            </a:solidFill>
            <a:ln w="14288">
              <a:solidFill>
                <a:srgbClr val="C4D3E2"/>
              </a:solidFill>
              <a:custDash>
                <a:ds d="400000" sp="266666"/>
              </a:custDash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381506" y="49872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4E7E"/>
                  </a:solidFill>
                  <a:latin typeface="Segoe UI"/>
                  <a:ea typeface="Microsoft YaHei"/>
                  <a:cs typeface="Segoe UI"/>
                </a:rPr>
                <a:t>采集层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384554" y="5318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爬虫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238500" y="49339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421380" y="50387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静态页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422904" y="5299710"/>
              <a:ext cx="1215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672"/>
                  </a:solidFill>
                  <a:latin typeface="Consolas"/>
                  <a:ea typeface="Consolas"/>
                  <a:cs typeface="Consolas"/>
                </a:rPr>
                <a:t>requests + lxml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43525" y="49339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526405" y="50387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动态页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527929" y="5299710"/>
              <a:ext cx="6792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672"/>
                  </a:solidFill>
                  <a:latin typeface="Consolas"/>
                  <a:ea typeface="Consolas"/>
                  <a:cs typeface="Consolas"/>
                </a:rPr>
                <a:t>Selenium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448550" y="49339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631430" y="50387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框架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32954" y="5299710"/>
              <a:ext cx="12025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Consolas"/>
                  <a:ea typeface="Microsoft YaHei"/>
                  <a:cs typeface="Consolas"/>
                </a:rPr>
                <a:t>Scrapy（可选）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553575" y="4933950"/>
              <a:ext cx="1971675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9525">
              <a:solidFill>
                <a:srgbClr val="D8E2EF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736455" y="503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反爬策略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37979" y="5299710"/>
              <a:ext cx="1275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UA / 延迟 / 代理</a:t>
              </a:r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755904" y="5985510"/>
            <a:ext cx="47050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0"/>
                </a:solidFill>
                <a:latin typeface="Segoe UI"/>
                <a:ea typeface="Microsoft YaHei"/>
                <a:cs typeface="Segoe UI"/>
              </a:rPr>
              <a:t>技术栈按团队真实可交付范围选型 | 城市房价分析系统 · 产品发布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76250"/>
            <a:ext cx="6478181" cy="881634"/>
            <a:chOff x="533400" y="476250"/>
            <a:chExt cx="6478181" cy="881634"/>
          </a:xfrm>
        </p:grpSpPr>
        <p:sp>
          <p:nvSpPr>
            <p:cNvPr id="3" name="Rectangle 3"/>
            <p:cNvSpPr/>
            <p:nvPr/>
          </p:nvSpPr>
          <p:spPr>
            <a:xfrm>
              <a:off x="533400" y="476250"/>
              <a:ext cx="76200" cy="43815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498158"/>
              <a:ext cx="626558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数据流水线：从网页到可用特征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2856" y="1005840"/>
              <a:ext cx="61852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四步流水线，</a:t>
              </a:r>
              <a:r>
                <a:rPr lang="zh-CN" sz="180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每一步都有明确产出</a:t>
              </a:r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，前一步喂给后一步。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619250"/>
            <a:ext cx="2533650" cy="4095750"/>
            <a:chOff x="533400" y="1619250"/>
            <a:chExt cx="2533650" cy="4095750"/>
          </a:xfrm>
        </p:grpSpPr>
        <p:sp>
          <p:nvSpPr>
            <p:cNvPr id="7" name="Rectangle 7"/>
            <p:cNvSpPr/>
            <p:nvPr/>
          </p:nvSpPr>
          <p:spPr>
            <a:xfrm>
              <a:off x="533400" y="1619250"/>
              <a:ext cx="2533650" cy="409575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33400" y="1619250"/>
              <a:ext cx="2533650" cy="533400"/>
            </a:xfrm>
            <a:custGeom>
              <a:avLst/>
              <a:gdLst/>
              <a:ahLst/>
              <a:cxnLst/>
              <a:rect l="l" t="t" r="r" b="b"/>
              <a:pathLst>
                <a:path w="2533650" h="533400">
                  <a:moveTo>
                    <a:pt x="0" y="533400"/>
                  </a:move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lnTo>
                    <a:pt x="2381250" y="0"/>
                  </a:lnTo>
                  <a:cubicBezTo>
                    <a:pt x="2465418" y="0"/>
                    <a:pt x="2533650" y="68232"/>
                    <a:pt x="2533650" y="152400"/>
                  </a:cubicBezTo>
                  <a:lnTo>
                    <a:pt x="2533650" y="533400"/>
                  </a:lnTo>
                  <a:close/>
                </a:path>
              </a:pathLst>
            </a:custGeom>
            <a:solidFill>
              <a:srgbClr val="1C6DB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3806" y="18249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① 采集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00100" y="2628900"/>
              <a:ext cx="76200" cy="76200"/>
            </a:xfrm>
            <a:prstGeom prst="ellipse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5073" y="2586514"/>
              <a:ext cx="1188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A37"/>
                  </a:solidFill>
                  <a:latin typeface="Consolas"/>
                  <a:ea typeface="Consolas"/>
                  <a:cs typeface="Consolas"/>
                </a:rPr>
                <a:t>requests+lxml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00100" y="3028950"/>
              <a:ext cx="76200" cy="76200"/>
            </a:xfrm>
            <a:prstGeom prst="ellipse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65073" y="2986564"/>
              <a:ext cx="7216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A37"/>
                  </a:solidFill>
                  <a:latin typeface="Consolas"/>
                  <a:ea typeface="Consolas"/>
                  <a:cs typeface="Consolas"/>
                </a:rPr>
                <a:t>Selenium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5835" y="3231356"/>
              <a:ext cx="465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0"/>
                  </a:solidFill>
                  <a:latin typeface="Segoe UI"/>
                  <a:ea typeface="Microsoft YaHei"/>
                  <a:cs typeface="Segoe UI"/>
                </a:rPr>
                <a:t>动态页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00100" y="3657600"/>
              <a:ext cx="76200" cy="76200"/>
            </a:xfrm>
            <a:prstGeom prst="ellipse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5073" y="3615214"/>
              <a:ext cx="5847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A37"/>
                  </a:solidFill>
                  <a:latin typeface="Consolas"/>
                  <a:ea typeface="Consolas"/>
                  <a:cs typeface="Consolas"/>
                </a:rPr>
                <a:t>Scrapy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5835" y="38600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0"/>
                  </a:solidFill>
                  <a:latin typeface="Segoe UI"/>
                  <a:ea typeface="Microsoft YaHei"/>
                  <a:cs typeface="Segoe UI"/>
                </a:rPr>
                <a:t>可选框架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00100" y="4267200"/>
              <a:ext cx="76200" cy="76200"/>
            </a:xfrm>
            <a:prstGeom prst="ellipse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5073" y="4224814"/>
              <a:ext cx="1554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反爬 UA/延迟/代理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" y="4629150"/>
              <a:ext cx="2152650" cy="857250"/>
            </a:xfrm>
            <a:prstGeom prst="roundRect">
              <a:avLst>
                <a:gd name="adj" fmla="val 11111"/>
              </a:avLst>
            </a:prstGeom>
            <a:solidFill>
              <a:srgbClr val="EAF2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585" y="4793456"/>
              <a:ext cx="846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本阶段产出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7918" y="50796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原始房源列表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90900" y="1619250"/>
            <a:ext cx="2533650" cy="4095750"/>
            <a:chOff x="3390900" y="1619250"/>
            <a:chExt cx="2533650" cy="4095750"/>
          </a:xfrm>
        </p:grpSpPr>
        <p:sp>
          <p:nvSpPr>
            <p:cNvPr id="24" name="Rectangle 24"/>
            <p:cNvSpPr/>
            <p:nvPr/>
          </p:nvSpPr>
          <p:spPr>
            <a:xfrm>
              <a:off x="3390900" y="1619250"/>
              <a:ext cx="2533650" cy="409575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390900" y="1619250"/>
              <a:ext cx="2533650" cy="533400"/>
            </a:xfrm>
            <a:custGeom>
              <a:avLst/>
              <a:gdLst/>
              <a:ahLst/>
              <a:cxnLst/>
              <a:rect l="l" t="t" r="r" b="b"/>
              <a:pathLst>
                <a:path w="2533650" h="533400">
                  <a:moveTo>
                    <a:pt x="0" y="533400"/>
                  </a:move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lnTo>
                    <a:pt x="2381250" y="0"/>
                  </a:lnTo>
                  <a:cubicBezTo>
                    <a:pt x="2465418" y="0"/>
                    <a:pt x="2533650" y="68232"/>
                    <a:pt x="2533650" y="152400"/>
                  </a:cubicBezTo>
                  <a:lnTo>
                    <a:pt x="2533650" y="533400"/>
                  </a:lnTo>
                  <a:close/>
                </a:path>
              </a:pathLst>
            </a:custGeom>
            <a:solidFill>
              <a:srgbClr val="16B8A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91306" y="18249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② 清洗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657600" y="2724150"/>
              <a:ext cx="76200" cy="762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22192" y="26736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去重、缺失值处理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657600" y="3238500"/>
              <a:ext cx="76200" cy="762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22192" y="3188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价格清洗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657600" y="3752850"/>
              <a:ext cx="76200" cy="762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22192" y="3702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地址解析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22954" y="406146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A94A0"/>
                  </a:solidFill>
                  <a:latin typeface="Consolas"/>
                  <a:ea typeface="Consolas"/>
                  <a:cs typeface="Consolas"/>
                </a:rPr>
                <a:t>pandas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581400" y="4629150"/>
              <a:ext cx="2152650" cy="857250"/>
            </a:xfrm>
            <a:prstGeom prst="roundRect">
              <a:avLst>
                <a:gd name="adj" fmla="val 11111"/>
              </a:avLst>
            </a:prstGeom>
            <a:solidFill>
              <a:srgbClr val="E4F7F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28085" y="4793456"/>
              <a:ext cx="846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本阶段产出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25418" y="50796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E9C8C"/>
                  </a:solidFill>
                  <a:latin typeface="Segoe UI"/>
                  <a:ea typeface="Microsoft YaHei"/>
                  <a:cs typeface="Segoe UI"/>
                </a:rPr>
                <a:t>结构化数据表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48400" y="1619250"/>
            <a:ext cx="2533650" cy="4095750"/>
            <a:chOff x="6248400" y="1619250"/>
            <a:chExt cx="2533650" cy="4095750"/>
          </a:xfrm>
        </p:grpSpPr>
        <p:sp>
          <p:nvSpPr>
            <p:cNvPr id="38" name="Rectangle 38"/>
            <p:cNvSpPr/>
            <p:nvPr/>
          </p:nvSpPr>
          <p:spPr>
            <a:xfrm>
              <a:off x="6248400" y="1619250"/>
              <a:ext cx="2533650" cy="409575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248400" y="1619250"/>
              <a:ext cx="2533650" cy="533400"/>
            </a:xfrm>
            <a:custGeom>
              <a:avLst/>
              <a:gdLst/>
              <a:ahLst/>
              <a:cxnLst/>
              <a:rect l="l" t="t" r="r" b="b"/>
              <a:pathLst>
                <a:path w="2533650" h="533400">
                  <a:moveTo>
                    <a:pt x="0" y="533400"/>
                  </a:move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lnTo>
                    <a:pt x="2381250" y="0"/>
                  </a:lnTo>
                  <a:cubicBezTo>
                    <a:pt x="2465418" y="0"/>
                    <a:pt x="2533650" y="68232"/>
                    <a:pt x="2533650" y="152400"/>
                  </a:cubicBezTo>
                  <a:lnTo>
                    <a:pt x="2533650" y="533400"/>
                  </a:lnTo>
                  <a:close/>
                </a:path>
              </a:pathLst>
            </a:custGeom>
            <a:solidFill>
              <a:srgbClr val="5AA0D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48806" y="18249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③ 存储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15100" y="2724150"/>
              <a:ext cx="76200" cy="76200"/>
            </a:xfrm>
            <a:prstGeom prst="ellipse">
              <a:avLst/>
            </a:prstGeom>
            <a:solidFill>
              <a:srgbClr val="5AA0D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79692" y="2673668"/>
              <a:ext cx="772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CSV 落地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15100" y="3238500"/>
              <a:ext cx="76200" cy="76200"/>
            </a:xfrm>
            <a:prstGeom prst="ellipse">
              <a:avLst/>
            </a:prstGeom>
            <a:solidFill>
              <a:srgbClr val="5AA0D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80073" y="3196114"/>
              <a:ext cx="1355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A37"/>
                  </a:solidFill>
                  <a:latin typeface="Consolas"/>
                  <a:ea typeface="Consolas"/>
                  <a:cs typeface="Consolas"/>
                </a:rPr>
                <a:t>SQLite / MySQL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15100" y="3752850"/>
              <a:ext cx="76200" cy="76200"/>
            </a:xfrm>
            <a:prstGeom prst="ellipse">
              <a:avLst/>
            </a:prstGeom>
            <a:solidFill>
              <a:srgbClr val="5AA0D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79692" y="3702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建索引可查询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38900" y="4629150"/>
              <a:ext cx="2152650" cy="857250"/>
            </a:xfrm>
            <a:prstGeom prst="roundRect">
              <a:avLst>
                <a:gd name="adj" fmla="val 11111"/>
              </a:avLst>
            </a:prstGeom>
            <a:solidFill>
              <a:srgbClr val="EAF3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85585" y="4793456"/>
              <a:ext cx="846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本阶段产出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82918" y="50796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E82C4"/>
                  </a:solidFill>
                  <a:latin typeface="Segoe UI"/>
                  <a:ea typeface="Microsoft YaHei"/>
                  <a:cs typeface="Segoe UI"/>
                </a:rPr>
                <a:t>可查询数据库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105900" y="1619250"/>
            <a:ext cx="2533650" cy="4095750"/>
            <a:chOff x="9105900" y="1619250"/>
            <a:chExt cx="2533650" cy="4095750"/>
          </a:xfrm>
        </p:grpSpPr>
        <p:sp>
          <p:nvSpPr>
            <p:cNvPr id="51" name="Rectangle 51"/>
            <p:cNvSpPr/>
            <p:nvPr/>
          </p:nvSpPr>
          <p:spPr>
            <a:xfrm>
              <a:off x="9105900" y="1619250"/>
              <a:ext cx="2533650" cy="409575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105900" y="1619250"/>
              <a:ext cx="2533650" cy="533400"/>
            </a:xfrm>
            <a:custGeom>
              <a:avLst/>
              <a:gdLst/>
              <a:ahLst/>
              <a:cxnLst/>
              <a:rect l="l" t="t" r="r" b="b"/>
              <a:pathLst>
                <a:path w="2533650" h="533400">
                  <a:moveTo>
                    <a:pt x="0" y="533400"/>
                  </a:move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lnTo>
                    <a:pt x="2381250" y="0"/>
                  </a:lnTo>
                  <a:cubicBezTo>
                    <a:pt x="2465418" y="0"/>
                    <a:pt x="2533650" y="68232"/>
                    <a:pt x="2533650" y="152400"/>
                  </a:cubicBezTo>
                  <a:lnTo>
                    <a:pt x="2533650" y="533400"/>
                  </a:lnTo>
                  <a:close/>
                </a:path>
              </a:pathLst>
            </a:custGeom>
            <a:solidFill>
              <a:srgbClr val="164E7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06306" y="18249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④ 特征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372600" y="2724150"/>
              <a:ext cx="76200" cy="76200"/>
            </a:xfrm>
            <a:prstGeom prst="ellipse">
              <a:avLst/>
            </a:prstGeom>
            <a:solidFill>
              <a:srgbClr val="164E7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537192" y="267366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面积 / 房龄 / 户型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372600" y="3238500"/>
              <a:ext cx="76200" cy="76200"/>
            </a:xfrm>
            <a:prstGeom prst="ellipse">
              <a:avLst/>
            </a:prstGeom>
            <a:solidFill>
              <a:srgbClr val="164E7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37192" y="3188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区域编码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372600" y="3752850"/>
              <a:ext cx="76200" cy="76200"/>
            </a:xfrm>
            <a:prstGeom prst="ellipse">
              <a:avLst/>
            </a:prstGeom>
            <a:solidFill>
              <a:srgbClr val="164E7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537192" y="3702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价格 log 变换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296400" y="4629150"/>
              <a:ext cx="2152650" cy="857250"/>
            </a:xfrm>
            <a:prstGeom prst="roundRect">
              <a:avLst>
                <a:gd name="adj" fmla="val 11111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443085" y="4793456"/>
              <a:ext cx="846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本阶段产出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40418" y="50796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4E7E"/>
                  </a:solidFill>
                  <a:latin typeface="Segoe UI"/>
                  <a:ea typeface="Microsoft YaHei"/>
                  <a:cs typeface="Segoe UI"/>
                </a:rPr>
                <a:t>模型输入特征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086100" y="3457575"/>
            <a:ext cx="6019800" cy="323850"/>
            <a:chOff x="3086100" y="3457575"/>
            <a:chExt cx="6019800" cy="323850"/>
          </a:xfrm>
        </p:grpSpPr>
        <p:sp>
          <p:nvSpPr>
            <p:cNvPr id="64" name="Freeform 64"/>
            <p:cNvSpPr/>
            <p:nvPr/>
          </p:nvSpPr>
          <p:spPr>
            <a:xfrm>
              <a:off x="3086100" y="3457575"/>
              <a:ext cx="304800" cy="323850"/>
            </a:xfrm>
            <a:custGeom>
              <a:avLst/>
              <a:gdLst/>
              <a:ahLst/>
              <a:cxnLst/>
              <a:rect l="l" t="t" r="r" b="b"/>
              <a:pathLst>
                <a:path w="304800" h="323850">
                  <a:moveTo>
                    <a:pt x="0" y="85725"/>
                  </a:moveTo>
                  <a:lnTo>
                    <a:pt x="133350" y="85725"/>
                  </a:lnTo>
                  <a:lnTo>
                    <a:pt x="133350" y="0"/>
                  </a:lnTo>
                  <a:lnTo>
                    <a:pt x="304800" y="161925"/>
                  </a:lnTo>
                  <a:lnTo>
                    <a:pt x="133350" y="323850"/>
                  </a:lnTo>
                  <a:lnTo>
                    <a:pt x="133350" y="238125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5943600" y="3457575"/>
              <a:ext cx="304800" cy="323850"/>
            </a:xfrm>
            <a:custGeom>
              <a:avLst/>
              <a:gdLst/>
              <a:ahLst/>
              <a:cxnLst/>
              <a:rect l="l" t="t" r="r" b="b"/>
              <a:pathLst>
                <a:path w="304800" h="323850">
                  <a:moveTo>
                    <a:pt x="0" y="85725"/>
                  </a:moveTo>
                  <a:lnTo>
                    <a:pt x="133350" y="85725"/>
                  </a:lnTo>
                  <a:lnTo>
                    <a:pt x="133350" y="0"/>
                  </a:lnTo>
                  <a:lnTo>
                    <a:pt x="304800" y="161925"/>
                  </a:lnTo>
                  <a:lnTo>
                    <a:pt x="133350" y="323850"/>
                  </a:lnTo>
                  <a:lnTo>
                    <a:pt x="133350" y="238125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801100" y="3457575"/>
              <a:ext cx="304800" cy="323850"/>
            </a:xfrm>
            <a:custGeom>
              <a:avLst/>
              <a:gdLst/>
              <a:ahLst/>
              <a:cxnLst/>
              <a:rect l="l" t="t" r="r" b="b"/>
              <a:pathLst>
                <a:path w="304800" h="323850">
                  <a:moveTo>
                    <a:pt x="0" y="85725"/>
                  </a:moveTo>
                  <a:lnTo>
                    <a:pt x="133350" y="85725"/>
                  </a:lnTo>
                  <a:lnTo>
                    <a:pt x="133350" y="0"/>
                  </a:lnTo>
                  <a:lnTo>
                    <a:pt x="304800" y="161925"/>
                  </a:lnTo>
                  <a:lnTo>
                    <a:pt x="133350" y="323850"/>
                  </a:lnTo>
                  <a:lnTo>
                    <a:pt x="133350" y="238125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</p:grpSp>
      <p:sp>
        <p:nvSpPr>
          <p:cNvPr id="68" name="TextBox 68"/>
          <p:cNvSpPr txBox="1"/>
          <p:nvPr/>
        </p:nvSpPr>
        <p:spPr>
          <a:xfrm>
            <a:off x="755904" y="5985510"/>
            <a:ext cx="65789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0"/>
                </a:solidFill>
                <a:latin typeface="Segoe UI"/>
                <a:ea typeface="Microsoft YaHei"/>
                <a:cs typeface="Segoe UI"/>
              </a:rPr>
              <a:t>采集源：链家 / 安居客 / 贝壳 + 政府土地局 / 城建公开数据 | 城市房价分析系统 · 产品发布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38150"/>
            <a:ext cx="8327257" cy="830389"/>
            <a:chOff x="533400" y="438150"/>
            <a:chExt cx="8327257" cy="830389"/>
          </a:xfrm>
        </p:grpSpPr>
        <p:sp>
          <p:nvSpPr>
            <p:cNvPr id="3" name="Rectangle 3"/>
            <p:cNvSpPr/>
            <p:nvPr/>
          </p:nvSpPr>
          <p:spPr>
            <a:xfrm>
              <a:off x="533400" y="43815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441008"/>
              <a:ext cx="66165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房价预测：跑通 Kaggle 回归范式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3618" y="945832"/>
              <a:ext cx="81070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先用简单模型跑通，再上进阶模型调优——</a:t>
              </a:r>
              <a:r>
                <a:rPr lang="zh-CN" sz="165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特征工程 → 模型训练 → 交叉验证 → 预测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47800" y="1543050"/>
            <a:ext cx="9220200" cy="647700"/>
            <a:chOff x="1447800" y="1543050"/>
            <a:chExt cx="9220200" cy="647700"/>
          </a:xfrm>
        </p:grpSpPr>
        <p:sp>
          <p:nvSpPr>
            <p:cNvPr id="7" name="Line 7"/>
            <p:cNvSpPr/>
            <p:nvPr/>
          </p:nvSpPr>
          <p:spPr>
            <a:xfrm>
              <a:off x="2171700" y="1866900"/>
              <a:ext cx="2057400" cy="1"/>
            </a:xfrm>
            <a:prstGeom prst="line">
              <a:avLst/>
            </a:prstGeom>
            <a:noFill/>
            <a:ln w="23812">
              <a:solidFill>
                <a:srgbClr val="CBD5E1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5029200" y="1866900"/>
              <a:ext cx="2057400" cy="1"/>
            </a:xfrm>
            <a:prstGeom prst="line">
              <a:avLst/>
            </a:prstGeom>
            <a:noFill/>
            <a:ln w="23812">
              <a:solidFill>
                <a:srgbClr val="CBD5E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7886700" y="1866900"/>
              <a:ext cx="2057400" cy="1"/>
            </a:xfrm>
            <a:prstGeom prst="line">
              <a:avLst/>
            </a:prstGeom>
            <a:noFill/>
            <a:ln w="23812">
              <a:solidFill>
                <a:srgbClr val="CBD5E1"/>
              </a:solidFill>
              <a:tailEnd type="triangle" w="lg" len="lg"/>
            </a:ln>
          </p:spPr>
        </p:sp>
        <p:sp>
          <p:nvSpPr>
            <p:cNvPr id="10" name="Ellipse 10"/>
            <p:cNvSpPr/>
            <p:nvPr/>
          </p:nvSpPr>
          <p:spPr>
            <a:xfrm>
              <a:off x="1447800" y="1543050"/>
              <a:ext cx="647700" cy="647700"/>
            </a:xfrm>
            <a:prstGeom prst="ellipse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22569" y="17678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305300" y="1543050"/>
              <a:ext cx="647700" cy="6477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80069" y="17678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62800" y="1543050"/>
              <a:ext cx="647700" cy="647700"/>
            </a:xfrm>
            <a:prstGeom prst="ellipse">
              <a:avLst/>
            </a:prstGeom>
            <a:solidFill>
              <a:srgbClr val="5AA0D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37569" y="17678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03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10020300" y="1543050"/>
              <a:ext cx="647700" cy="647700"/>
            </a:xfrm>
            <a:prstGeom prst="ellipse">
              <a:avLst/>
            </a:prstGeom>
            <a:solidFill>
              <a:srgbClr val="164E7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95069" y="17678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04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2419350"/>
            <a:ext cx="2476500" cy="2724150"/>
            <a:chOff x="533400" y="2419350"/>
            <a:chExt cx="2476500" cy="2724150"/>
          </a:xfrm>
        </p:grpSpPr>
        <p:sp>
          <p:nvSpPr>
            <p:cNvPr id="19" name="Rectangle 19"/>
            <p:cNvSpPr/>
            <p:nvPr/>
          </p:nvSpPr>
          <p:spPr>
            <a:xfrm>
              <a:off x="533400" y="2419350"/>
              <a:ext cx="2476500" cy="27241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3900" y="2667000"/>
              <a:ext cx="38100" cy="304800"/>
            </a:xfrm>
            <a:prstGeom prst="rect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6394" y="26279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特征工程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442" y="2959418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C6DBE"/>
                  </a:solidFill>
                  <a:latin typeface="Segoe UI"/>
                  <a:ea typeface="Segoe UI"/>
                  <a:cs typeface="Segoe UI"/>
                </a:rPr>
                <a:t>Feature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23900" y="32956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EDF1F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7042" y="35309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目标价格 log 变换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7042" y="3873818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类别特征编码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7042" y="42167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缺失值填充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90900" y="2419350"/>
            <a:ext cx="2476500" cy="2724150"/>
            <a:chOff x="3390900" y="2419350"/>
            <a:chExt cx="2476500" cy="2724150"/>
          </a:xfrm>
        </p:grpSpPr>
        <p:sp>
          <p:nvSpPr>
            <p:cNvPr id="28" name="Rectangle 28"/>
            <p:cNvSpPr/>
            <p:nvPr/>
          </p:nvSpPr>
          <p:spPr>
            <a:xfrm>
              <a:off x="3390900" y="2419350"/>
              <a:ext cx="2476500" cy="27241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81400" y="2667000"/>
              <a:ext cx="38100" cy="304800"/>
            </a:xfrm>
            <a:prstGeom prst="rect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723894" y="26279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模型选择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26942" y="2959418"/>
              <a:ext cx="534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9C8C"/>
                  </a:solidFill>
                  <a:latin typeface="Segoe UI"/>
                  <a:ea typeface="Segoe UI"/>
                  <a:cs typeface="Segoe UI"/>
                </a:rPr>
                <a:t>Model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581400" y="32956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EDF1F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74542" y="3530918"/>
              <a:ext cx="1631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线性 / Ridge 基线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74542" y="3873818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随机森林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74542" y="4216718"/>
              <a:ext cx="19164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75569"/>
                  </a:solidFill>
                  <a:latin typeface="Segoe UI"/>
                  <a:ea typeface="Segoe UI"/>
                  <a:cs typeface="Segoe UI"/>
                </a:rPr>
                <a:t>· XGBoost / LightGBM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75685" y="44886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94A0"/>
                  </a:solidFill>
                  <a:latin typeface="Segoe UI"/>
                  <a:ea typeface="Microsoft YaHei"/>
                  <a:cs typeface="Segoe UI"/>
                </a:rPr>
                <a:t>（进阶亮点）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48400" y="2419350"/>
            <a:ext cx="2476500" cy="2724150"/>
            <a:chOff x="6248400" y="2419350"/>
            <a:chExt cx="2476500" cy="2724150"/>
          </a:xfrm>
        </p:grpSpPr>
        <p:sp>
          <p:nvSpPr>
            <p:cNvPr id="38" name="Rectangle 38"/>
            <p:cNvSpPr/>
            <p:nvPr/>
          </p:nvSpPr>
          <p:spPr>
            <a:xfrm>
              <a:off x="6248400" y="2419350"/>
              <a:ext cx="2476500" cy="27241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38900" y="2667000"/>
              <a:ext cx="38100" cy="304800"/>
            </a:xfrm>
            <a:prstGeom prst="rect">
              <a:avLst/>
            </a:prstGeom>
            <a:solidFill>
              <a:srgbClr val="5AA0D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1394" y="26279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交叉验证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84442" y="2959418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E82C4"/>
                  </a:solidFill>
                  <a:latin typeface="Segoe UI"/>
                  <a:ea typeface="Segoe UI"/>
                  <a:cs typeface="Segoe UI"/>
                </a:rPr>
                <a:t>Validate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438900" y="32956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EDF1F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32042" y="35309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5 折交叉验证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32042" y="3873818"/>
              <a:ext cx="1079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RMSE 评估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32042" y="4216718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防过拟合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05900" y="2419350"/>
            <a:ext cx="2476500" cy="2724150"/>
            <a:chOff x="9105900" y="2419350"/>
            <a:chExt cx="2476500" cy="2724150"/>
          </a:xfrm>
        </p:grpSpPr>
        <p:sp>
          <p:nvSpPr>
            <p:cNvPr id="47" name="Rectangle 47"/>
            <p:cNvSpPr/>
            <p:nvPr/>
          </p:nvSpPr>
          <p:spPr>
            <a:xfrm>
              <a:off x="9105900" y="2419350"/>
              <a:ext cx="2476500" cy="272415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296400" y="2667000"/>
              <a:ext cx="38100" cy="304800"/>
            </a:xfrm>
            <a:prstGeom prst="rect">
              <a:avLst/>
            </a:prstGeom>
            <a:solidFill>
              <a:srgbClr val="164E7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38894" y="26279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预测输出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41942" y="29594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4E7E"/>
                  </a:solidFill>
                  <a:latin typeface="Segoe UI"/>
                  <a:ea typeface="Segoe UI"/>
                  <a:cs typeface="Segoe UI"/>
                </a:rPr>
                <a:t>Predict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9296400" y="32956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EDF1F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89542" y="3530918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输入房屋特征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89542" y="3873818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输出价格预测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89542" y="4216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指定区域 · 时段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33400" y="5295900"/>
            <a:ext cx="11125200" cy="1122045"/>
            <a:chOff x="533400" y="5295900"/>
            <a:chExt cx="11125200" cy="1122045"/>
          </a:xfrm>
        </p:grpSpPr>
        <p:sp>
          <p:nvSpPr>
            <p:cNvPr id="56" name="Rectangle 56"/>
            <p:cNvSpPr/>
            <p:nvPr/>
          </p:nvSpPr>
          <p:spPr>
            <a:xfrm>
              <a:off x="533400" y="5295900"/>
              <a:ext cx="11125200" cy="1066800"/>
            </a:xfrm>
            <a:prstGeom prst="roundRect">
              <a:avLst>
                <a:gd name="adj" fmla="val 14286"/>
              </a:avLst>
            </a:prstGeom>
            <a:solidFill>
              <a:srgbClr val="EEF4FB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31850" y="5625339"/>
              <a:ext cx="333852" cy="334399"/>
            </a:xfrm>
            <a:custGeom>
              <a:avLst/>
              <a:gdLst/>
              <a:ahLst/>
              <a:cxnLst/>
              <a:rect l="l" t="t" r="r" b="b"/>
              <a:pathLst>
                <a:path w="333852" h="334399">
                  <a:moveTo>
                    <a:pt x="238125" y="28384"/>
                  </a:moveTo>
                  <a:cubicBezTo>
                    <a:pt x="304283" y="66582"/>
                    <a:pt x="333852" y="146484"/>
                    <a:pt x="308499" y="218548"/>
                  </a:cubicBezTo>
                  <a:cubicBezTo>
                    <a:pt x="283147" y="290612"/>
                    <a:pt x="210062" y="334399"/>
                    <a:pt x="134561" y="322760"/>
                  </a:cubicBezTo>
                  <a:cubicBezTo>
                    <a:pt x="59059" y="311122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9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233474" y="91138"/>
                  </a:moveTo>
                  <a:cubicBezTo>
                    <a:pt x="227275" y="84940"/>
                    <a:pt x="217226" y="84940"/>
                    <a:pt x="211027" y="91138"/>
                  </a:cubicBezTo>
                  <a:lnTo>
                    <a:pt x="169910" y="132254"/>
                  </a:lnTo>
                  <a:lnTo>
                    <a:pt x="168593" y="133746"/>
                  </a:lnTo>
                  <a:lnTo>
                    <a:pt x="167513" y="135334"/>
                  </a:lnTo>
                  <a:cubicBezTo>
                    <a:pt x="158327" y="132699"/>
                    <a:pt x="148443" y="134341"/>
                    <a:pt x="140601" y="139802"/>
                  </a:cubicBezTo>
                  <a:cubicBezTo>
                    <a:pt x="132760" y="145264"/>
                    <a:pt x="127793" y="153966"/>
                    <a:pt x="127080" y="163496"/>
                  </a:cubicBezTo>
                  <a:lnTo>
                    <a:pt x="127000" y="165861"/>
                  </a:lnTo>
                  <a:lnTo>
                    <a:pt x="127080" y="168243"/>
                  </a:lnTo>
                  <a:cubicBezTo>
                    <a:pt x="127989" y="180326"/>
                    <a:pt x="135698" y="190838"/>
                    <a:pt x="146949" y="195338"/>
                  </a:cubicBezTo>
                  <a:cubicBezTo>
                    <a:pt x="158200" y="199839"/>
                    <a:pt x="171031" y="197542"/>
                    <a:pt x="180023" y="189419"/>
                  </a:cubicBezTo>
                  <a:cubicBezTo>
                    <a:pt x="189015" y="181296"/>
                    <a:pt x="192600" y="168763"/>
                    <a:pt x="189262" y="157114"/>
                  </a:cubicBezTo>
                  <a:cubicBezTo>
                    <a:pt x="190393" y="156446"/>
                    <a:pt x="191433" y="155635"/>
                    <a:pt x="192358" y="154701"/>
                  </a:cubicBezTo>
                  <a:lnTo>
                    <a:pt x="233474" y="113585"/>
                  </a:lnTo>
                  <a:lnTo>
                    <a:pt x="234792" y="112093"/>
                  </a:lnTo>
                  <a:cubicBezTo>
                    <a:pt x="239694" y="105773"/>
                    <a:pt x="239129" y="96793"/>
                    <a:pt x="233474" y="91138"/>
                  </a:cubicBezTo>
                  <a:close/>
                  <a:moveTo>
                    <a:pt x="158750" y="70611"/>
                  </a:moveTo>
                  <a:cubicBezTo>
                    <a:pt x="133488" y="70611"/>
                    <a:pt x="109261" y="80646"/>
                    <a:pt x="91398" y="98509"/>
                  </a:cubicBezTo>
                  <a:cubicBezTo>
                    <a:pt x="73535" y="116372"/>
                    <a:pt x="63500" y="140599"/>
                    <a:pt x="63500" y="165861"/>
                  </a:cubicBezTo>
                  <a:cubicBezTo>
                    <a:pt x="63500" y="174629"/>
                    <a:pt x="70608" y="181736"/>
                    <a:pt x="79375" y="181736"/>
                  </a:cubicBezTo>
                  <a:cubicBezTo>
                    <a:pt x="88143" y="181736"/>
                    <a:pt x="95250" y="174629"/>
                    <a:pt x="95250" y="165861"/>
                  </a:cubicBezTo>
                  <a:cubicBezTo>
                    <a:pt x="95250" y="130791"/>
                    <a:pt x="123680" y="102361"/>
                    <a:pt x="158750" y="102361"/>
                  </a:cubicBezTo>
                  <a:cubicBezTo>
                    <a:pt x="167518" y="102361"/>
                    <a:pt x="174625" y="95254"/>
                    <a:pt x="174625" y="86486"/>
                  </a:cubicBezTo>
                  <a:cubicBezTo>
                    <a:pt x="174625" y="77719"/>
                    <a:pt x="167518" y="70611"/>
                    <a:pt x="158750" y="70611"/>
                  </a:cubicBezTo>
                  <a:close/>
                </a:path>
              </a:pathLst>
            </a:custGeom>
            <a:solidFill>
              <a:srgbClr val="1C6DBE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325118" y="549878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可交付说明（诚实）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325880" y="5857875"/>
              <a:ext cx="7312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随机森林 baseline 先达标（</a:t>
              </a:r>
              <a:r>
                <a:rPr lang="zh-CN" sz="150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R² 约 0.8 量级</a:t>
              </a:r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为目标），XGBoost 作为提升亮点；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25880" y="6124575"/>
              <a:ext cx="6153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不追求竞赛级精度，重在</a:t>
              </a:r>
              <a:r>
                <a:rPr lang="zh-CN" sz="1500" b="1" dirty="0">
                  <a:solidFill>
                    <a:srgbClr val="16B8A6"/>
                  </a:solidFill>
                  <a:latin typeface="Segoe UI"/>
                  <a:ea typeface="Microsoft YaHei"/>
                  <a:cs typeface="Segoe UI"/>
                </a:rPr>
                <a:t>跑通完整链路</a:t>
              </a:r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——契合团队的真实交付能力。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76250"/>
            <a:ext cx="9149715" cy="881634"/>
            <a:chOff x="533400" y="476250"/>
            <a:chExt cx="9149715" cy="881634"/>
          </a:xfrm>
        </p:grpSpPr>
        <p:sp>
          <p:nvSpPr>
            <p:cNvPr id="3" name="Rectangle 3"/>
            <p:cNvSpPr/>
            <p:nvPr/>
          </p:nvSpPr>
          <p:spPr>
            <a:xfrm>
              <a:off x="533400" y="476250"/>
              <a:ext cx="76200" cy="43815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49815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界面与案例：已验证的链路，正在长出的产品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2856" y="1005840"/>
              <a:ext cx="78693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参考案例已验证链路可行；</a:t>
              </a:r>
              <a:r>
                <a:rPr lang="zh-CN" sz="180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真实界面正在开发</a:t>
              </a:r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，发布时补齐大屏与地图。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733550"/>
            <a:ext cx="5334000" cy="2019300"/>
            <a:chOff x="533400" y="1733550"/>
            <a:chExt cx="5334000" cy="2019300"/>
          </a:xfrm>
        </p:grpSpPr>
        <p:sp>
          <p:nvSpPr>
            <p:cNvPr id="7" name="Rectangle 7"/>
            <p:cNvSpPr/>
            <p:nvPr/>
          </p:nvSpPr>
          <p:spPr>
            <a:xfrm>
              <a:off x="533400" y="1733550"/>
              <a:ext cx="5334000" cy="2019300"/>
            </a:xfrm>
            <a:prstGeom prst="roundRect">
              <a:avLst>
                <a:gd name="adj" fmla="val 6604"/>
              </a:avLst>
            </a:prstGeom>
            <a:solidFill>
              <a:srgbClr val="F5F8FC"/>
            </a:solidFill>
            <a:ln w="9525">
              <a:solidFill>
                <a:srgbClr val="D8E2EF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5701" y="2114550"/>
              <a:ext cx="3769397" cy="154305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533400" y="1733550"/>
              <a:ext cx="2095500" cy="304800"/>
            </a:xfrm>
            <a:prstGeom prst="rect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9704" y="1823085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应用案例 · 分析展示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3905250"/>
            <a:ext cx="5334000" cy="2019300"/>
            <a:chOff x="533400" y="3905250"/>
            <a:chExt cx="5334000" cy="2019300"/>
          </a:xfrm>
        </p:grpSpPr>
        <p:sp>
          <p:nvSpPr>
            <p:cNvPr id="12" name="Rectangle 12"/>
            <p:cNvSpPr/>
            <p:nvPr/>
          </p:nvSpPr>
          <p:spPr>
            <a:xfrm>
              <a:off x="533400" y="3905250"/>
              <a:ext cx="5334000" cy="2019300"/>
            </a:xfrm>
            <a:prstGeom prst="roundRect">
              <a:avLst>
                <a:gd name="adj" fmla="val 6604"/>
              </a:avLst>
            </a:prstGeom>
            <a:solidFill>
              <a:srgbClr val="F5F8FC"/>
            </a:solidFill>
            <a:ln w="9525">
              <a:solidFill>
                <a:srgbClr val="D8E2EF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2100" y="4286250"/>
              <a:ext cx="2776599" cy="154305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533400" y="3905250"/>
              <a:ext cx="1714500" cy="304800"/>
            </a:xfrm>
            <a:prstGeom prst="rect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9704" y="399478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应用案例 · 详情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72200" y="1733550"/>
            <a:ext cx="5486400" cy="2019300"/>
            <a:chOff x="6172200" y="1733550"/>
            <a:chExt cx="5486400" cy="2019300"/>
          </a:xfrm>
        </p:grpSpPr>
        <p:sp>
          <p:nvSpPr>
            <p:cNvPr id="17" name="Rectangle 17"/>
            <p:cNvSpPr/>
            <p:nvPr/>
          </p:nvSpPr>
          <p:spPr>
            <a:xfrm>
              <a:off x="6172200" y="1733550"/>
              <a:ext cx="5486400" cy="2019300"/>
            </a:xfrm>
            <a:prstGeom prst="roundRect">
              <a:avLst>
                <a:gd name="adj" fmla="val 6604"/>
              </a:avLst>
            </a:prstGeom>
            <a:solidFill>
              <a:srgbClr val="FBFCFE"/>
            </a:solidFill>
            <a:ln w="19050">
              <a:solidFill>
                <a:srgbClr val="9FB6D0"/>
              </a:solidFill>
              <a:prstDash val="lgDash"/>
            </a:ln>
          </p:spPr>
        </p:sp>
        <p:sp>
          <p:nvSpPr>
            <p:cNvPr id="18" name="Freeform 18"/>
            <p:cNvSpPr/>
            <p:nvPr/>
          </p:nvSpPr>
          <p:spPr>
            <a:xfrm>
              <a:off x="8715375" y="2181225"/>
              <a:ext cx="400049" cy="400049"/>
            </a:xfrm>
            <a:custGeom>
              <a:avLst/>
              <a:gdLst/>
              <a:ahLst/>
              <a:cxnLst/>
              <a:rect l="l" t="t" r="r" b="b"/>
              <a:pathLst>
                <a:path w="400049" h="400049">
                  <a:moveTo>
                    <a:pt x="133350" y="0"/>
                  </a:moveTo>
                  <a:cubicBezTo>
                    <a:pt x="157899" y="0"/>
                    <a:pt x="177800" y="19901"/>
                    <a:pt x="177800" y="44450"/>
                  </a:cubicBezTo>
                  <a:lnTo>
                    <a:pt x="177800" y="177800"/>
                  </a:lnTo>
                  <a:cubicBezTo>
                    <a:pt x="177800" y="202349"/>
                    <a:pt x="157899" y="222250"/>
                    <a:pt x="133350" y="222250"/>
                  </a:cubicBezTo>
                  <a:lnTo>
                    <a:pt x="44450" y="222250"/>
                  </a:lnTo>
                  <a:cubicBezTo>
                    <a:pt x="19901" y="222250"/>
                    <a:pt x="0" y="202349"/>
                    <a:pt x="0" y="177800"/>
                  </a:cubicBez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  <a:moveTo>
                    <a:pt x="133350" y="266700"/>
                  </a:moveTo>
                  <a:cubicBezTo>
                    <a:pt x="157899" y="266700"/>
                    <a:pt x="177800" y="286601"/>
                    <a:pt x="177800" y="311150"/>
                  </a:cubicBezTo>
                  <a:lnTo>
                    <a:pt x="177800" y="355599"/>
                  </a:lnTo>
                  <a:cubicBezTo>
                    <a:pt x="177800" y="380149"/>
                    <a:pt x="157899" y="400049"/>
                    <a:pt x="133350" y="400049"/>
                  </a:cubicBezTo>
                  <a:lnTo>
                    <a:pt x="44450" y="400049"/>
                  </a:lnTo>
                  <a:cubicBezTo>
                    <a:pt x="19901" y="400049"/>
                    <a:pt x="0" y="380149"/>
                    <a:pt x="0" y="355599"/>
                  </a:cubicBezTo>
                  <a:lnTo>
                    <a:pt x="0" y="311150"/>
                  </a:lnTo>
                  <a:cubicBezTo>
                    <a:pt x="0" y="286601"/>
                    <a:pt x="19901" y="266700"/>
                    <a:pt x="44450" y="266700"/>
                  </a:cubicBezTo>
                  <a:close/>
                  <a:moveTo>
                    <a:pt x="355599" y="177800"/>
                  </a:moveTo>
                  <a:cubicBezTo>
                    <a:pt x="380149" y="177800"/>
                    <a:pt x="400049" y="197701"/>
                    <a:pt x="400049" y="222250"/>
                  </a:cubicBezTo>
                  <a:lnTo>
                    <a:pt x="400049" y="355599"/>
                  </a:lnTo>
                  <a:cubicBezTo>
                    <a:pt x="400049" y="380149"/>
                    <a:pt x="380149" y="400049"/>
                    <a:pt x="355599" y="400049"/>
                  </a:cubicBezTo>
                  <a:lnTo>
                    <a:pt x="266700" y="400049"/>
                  </a:lnTo>
                  <a:cubicBezTo>
                    <a:pt x="242151" y="400049"/>
                    <a:pt x="222250" y="380149"/>
                    <a:pt x="222250" y="355599"/>
                  </a:cubicBezTo>
                  <a:lnTo>
                    <a:pt x="222250" y="222250"/>
                  </a:lnTo>
                  <a:cubicBezTo>
                    <a:pt x="222250" y="197701"/>
                    <a:pt x="242151" y="177800"/>
                    <a:pt x="266700" y="177800"/>
                  </a:cubicBezTo>
                  <a:close/>
                  <a:moveTo>
                    <a:pt x="355599" y="0"/>
                  </a:moveTo>
                  <a:cubicBezTo>
                    <a:pt x="380149" y="0"/>
                    <a:pt x="400049" y="19901"/>
                    <a:pt x="400049" y="44450"/>
                  </a:cubicBezTo>
                  <a:lnTo>
                    <a:pt x="400049" y="88900"/>
                  </a:lnTo>
                  <a:cubicBezTo>
                    <a:pt x="400049" y="113449"/>
                    <a:pt x="380149" y="133350"/>
                    <a:pt x="355599" y="133350"/>
                  </a:cubicBezTo>
                  <a:lnTo>
                    <a:pt x="266700" y="133350"/>
                  </a:lnTo>
                  <a:cubicBezTo>
                    <a:pt x="242151" y="133350"/>
                    <a:pt x="222250" y="113449"/>
                    <a:pt x="222250" y="88900"/>
                  </a:cubicBezTo>
                  <a:lnTo>
                    <a:pt x="222250" y="44450"/>
                  </a:lnTo>
                  <a:cubicBezTo>
                    <a:pt x="222250" y="19901"/>
                    <a:pt x="242151" y="0"/>
                    <a:pt x="266700" y="0"/>
                  </a:cubicBezTo>
                  <a:close/>
                </a:path>
              </a:pathLst>
            </a:custGeom>
            <a:solidFill>
              <a:srgbClr val="5AA0D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15015" y="2815590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可视化大屏 / 系统首页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4490" y="31880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A94A0"/>
                  </a:solidFill>
                  <a:latin typeface="Segoe UI"/>
                  <a:ea typeface="Microsoft YaHei"/>
                  <a:cs typeface="Segoe UI"/>
                </a:rPr>
                <a:t>开发中 · 发布时补真实截图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401300" y="186690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EAF3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719030" y="1935956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E82C4"/>
                  </a:solidFill>
                  <a:latin typeface="Segoe UI"/>
                  <a:ea typeface="Microsoft YaHei"/>
                  <a:cs typeface="Segoe UI"/>
                </a:rPr>
                <a:t>开发中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172200" y="3905250"/>
            <a:ext cx="5486400" cy="2019300"/>
            <a:chOff x="6172200" y="3905250"/>
            <a:chExt cx="5486400" cy="2019300"/>
          </a:xfrm>
        </p:grpSpPr>
        <p:sp>
          <p:nvSpPr>
            <p:cNvPr id="24" name="Rectangle 24"/>
            <p:cNvSpPr/>
            <p:nvPr/>
          </p:nvSpPr>
          <p:spPr>
            <a:xfrm>
              <a:off x="6172200" y="3905250"/>
              <a:ext cx="5486400" cy="2019300"/>
            </a:xfrm>
            <a:prstGeom prst="roundRect">
              <a:avLst>
                <a:gd name="adj" fmla="val 6604"/>
              </a:avLst>
            </a:prstGeom>
            <a:solidFill>
              <a:srgbClr val="FBFCFE"/>
            </a:solidFill>
            <a:ln w="19050">
              <a:solidFill>
                <a:srgbClr val="9FB6D0"/>
              </a:solidFill>
              <a:prstDash val="lgDash"/>
            </a:ln>
          </p:spPr>
        </p:sp>
        <p:sp>
          <p:nvSpPr>
            <p:cNvPr id="25" name="Freeform 25"/>
            <p:cNvSpPr/>
            <p:nvPr/>
          </p:nvSpPr>
          <p:spPr>
            <a:xfrm>
              <a:off x="8695845" y="4311170"/>
              <a:ext cx="439331" cy="481421"/>
            </a:xfrm>
            <a:custGeom>
              <a:avLst/>
              <a:gdLst/>
              <a:ahLst/>
              <a:cxnLst/>
              <a:rect l="l" t="t" r="r" b="b"/>
              <a:pathLst>
                <a:path w="439331" h="481421">
                  <a:moveTo>
                    <a:pt x="360994" y="78115"/>
                  </a:moveTo>
                  <a:cubicBezTo>
                    <a:pt x="437335" y="154446"/>
                    <a:pt x="439331" y="277583"/>
                    <a:pt x="365506" y="356349"/>
                  </a:cubicBezTo>
                  <a:lnTo>
                    <a:pt x="360994" y="361017"/>
                  </a:lnTo>
                  <a:lnTo>
                    <a:pt x="266694" y="455295"/>
                  </a:lnTo>
                  <a:cubicBezTo>
                    <a:pt x="241864" y="480109"/>
                    <a:pt x="202047" y="481421"/>
                    <a:pt x="175638" y="458295"/>
                  </a:cubicBezTo>
                  <a:lnTo>
                    <a:pt x="172438" y="455295"/>
                  </a:lnTo>
                  <a:lnTo>
                    <a:pt x="78115" y="360994"/>
                  </a:lnTo>
                  <a:cubicBezTo>
                    <a:pt x="0" y="282879"/>
                    <a:pt x="0" y="156230"/>
                    <a:pt x="78115" y="78115"/>
                  </a:cubicBezTo>
                  <a:cubicBezTo>
                    <a:pt x="156230" y="0"/>
                    <a:pt x="282879" y="0"/>
                    <a:pt x="360994" y="78115"/>
                  </a:cubicBezTo>
                  <a:close/>
                  <a:moveTo>
                    <a:pt x="219555" y="152880"/>
                  </a:moveTo>
                  <a:cubicBezTo>
                    <a:pt x="182731" y="152880"/>
                    <a:pt x="152880" y="182731"/>
                    <a:pt x="152880" y="219555"/>
                  </a:cubicBezTo>
                  <a:cubicBezTo>
                    <a:pt x="152880" y="256378"/>
                    <a:pt x="182731" y="286230"/>
                    <a:pt x="219555" y="286230"/>
                  </a:cubicBezTo>
                  <a:cubicBezTo>
                    <a:pt x="256378" y="286230"/>
                    <a:pt x="286230" y="256378"/>
                    <a:pt x="286230" y="219555"/>
                  </a:cubicBezTo>
                  <a:cubicBezTo>
                    <a:pt x="286230" y="182731"/>
                    <a:pt x="256378" y="152880"/>
                    <a:pt x="219555" y="152880"/>
                  </a:cubicBezTo>
                </a:path>
              </a:pathLst>
            </a:custGeom>
            <a:solidFill>
              <a:srgbClr val="5AA0D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42231" y="49872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区域房价地图 / 热力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4490" y="53597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A94A0"/>
                  </a:solidFill>
                  <a:latin typeface="Segoe UI"/>
                  <a:ea typeface="Microsoft YaHei"/>
                  <a:cs typeface="Segoe UI"/>
                </a:rPr>
                <a:t>开发中 · 发布时补真实截图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401300" y="4038600"/>
              <a:ext cx="1123950" cy="285750"/>
            </a:xfrm>
            <a:prstGeom prst="roundRect">
              <a:avLst>
                <a:gd name="adj" fmla="val 50000"/>
              </a:avLst>
            </a:prstGeom>
            <a:solidFill>
              <a:srgbClr val="EAF3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719030" y="4107656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E82C4"/>
                  </a:solidFill>
                  <a:latin typeface="Segoe UI"/>
                  <a:ea typeface="Microsoft YaHei"/>
                  <a:cs typeface="Segoe UI"/>
                </a:rPr>
                <a:t>开发中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55904" y="6195060"/>
            <a:ext cx="71524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0"/>
                </a:solidFill>
                <a:latin typeface="Segoe UI"/>
                <a:ea typeface="Microsoft YaHei"/>
                <a:cs typeface="Segoe UI"/>
              </a:rPr>
              <a:t>左：项目自带案例截图（验证链路） · 右：真实界面占位（开发中） | 城市房价分析系统 · 产品发布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76250"/>
            <a:ext cx="6325328" cy="881634"/>
            <a:chOff x="533400" y="476250"/>
            <a:chExt cx="6325328" cy="881634"/>
          </a:xfrm>
        </p:grpSpPr>
        <p:sp>
          <p:nvSpPr>
            <p:cNvPr id="3" name="Rectangle 3"/>
            <p:cNvSpPr/>
            <p:nvPr/>
          </p:nvSpPr>
          <p:spPr>
            <a:xfrm>
              <a:off x="533400" y="476250"/>
              <a:ext cx="76200" cy="43815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498158"/>
              <a:ext cx="53750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四个亮点：不止『查房价』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2856" y="1005840"/>
              <a:ext cx="6105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让它区别于普通房价查询——</a:t>
              </a:r>
              <a:r>
                <a:rPr lang="zh-CN" sz="180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融合 · 预测 · 地图 · 权限</a:t>
              </a:r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714500"/>
            <a:ext cx="5410200" cy="2057400"/>
            <a:chOff x="533400" y="1714500"/>
            <a:chExt cx="5410200" cy="2057400"/>
          </a:xfrm>
        </p:grpSpPr>
        <p:sp>
          <p:nvSpPr>
            <p:cNvPr id="7" name="Rectangle 7"/>
            <p:cNvSpPr/>
            <p:nvPr/>
          </p:nvSpPr>
          <p:spPr>
            <a:xfrm>
              <a:off x="533400" y="1714500"/>
              <a:ext cx="5410200" cy="205740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004808" y="19469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4200" b="1" dirty="0">
                  <a:solidFill>
                    <a:srgbClr val="1C6DBE">
                      <a:alphaMod val="9000"/>
                    </a:srgbClr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19621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EAF2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96077" y="2121230"/>
              <a:ext cx="255728" cy="253326"/>
              <a:chOff x="996077" y="2121230"/>
              <a:chExt cx="255728" cy="25332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33233" y="2298699"/>
                <a:ext cx="107112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12" h="75857">
                    <a:moveTo>
                      <a:pt x="107112" y="0"/>
                    </a:moveTo>
                    <a:cubicBezTo>
                      <a:pt x="88254" y="43206"/>
                      <a:pt x="47015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4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7554" y="2298699"/>
                <a:ext cx="107099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099" h="75857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3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04011" y="2298699"/>
                <a:ext cx="39878" cy="49327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27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6077" y="2222500"/>
                <a:ext cx="77504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504" h="50800">
                    <a:moveTo>
                      <a:pt x="77504" y="0"/>
                    </a:moveTo>
                    <a:cubicBezTo>
                      <a:pt x="75617" y="16881"/>
                      <a:pt x="75617" y="33919"/>
                      <a:pt x="77504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97034" y="2222500"/>
                <a:ext cx="5383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3831" h="50800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74318" y="2222500"/>
                <a:ext cx="77487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487" h="50800">
                    <a:moveTo>
                      <a:pt x="74092" y="0"/>
                    </a:moveTo>
                    <a:cubicBezTo>
                      <a:pt x="77487" y="16764"/>
                      <a:pt x="77478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07516" y="2121243"/>
                <a:ext cx="107124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24" h="75857">
                    <a:moveTo>
                      <a:pt x="107124" y="0"/>
                    </a:moveTo>
                    <a:cubicBezTo>
                      <a:pt x="103881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04011" y="2147773"/>
                <a:ext cx="39878" cy="49339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39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39"/>
                    </a:cubicBezTo>
                    <a:lnTo>
                      <a:pt x="0" y="49339"/>
                    </a:lnTo>
                    <a:cubicBezTo>
                      <a:pt x="4318" y="32614"/>
                      <a:pt x="10795" y="16319"/>
                      <a:pt x="19431" y="864"/>
                    </a:cubicBezTo>
                    <a:close/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133259" y="2121230"/>
                <a:ext cx="107124" cy="75870"/>
              </a:xfrm>
              <a:custGeom>
                <a:avLst/>
                <a:gdLst/>
                <a:ahLst/>
                <a:cxnLst/>
                <a:rect l="l" t="t" r="r" b="b"/>
                <a:pathLst>
                  <a:path w="107124" h="75870">
                    <a:moveTo>
                      <a:pt x="0" y="0"/>
                    </a:moveTo>
                    <a:cubicBezTo>
                      <a:pt x="47013" y="3472"/>
                      <a:pt x="88245" y="32674"/>
                      <a:pt x="107124" y="75870"/>
                    </a:cubicBezTo>
                    <a:lnTo>
                      <a:pt x="36766" y="75870"/>
                    </a:lnTo>
                    <a:cubicBezTo>
                      <a:pt x="31099" y="51008"/>
                      <a:pt x="21312" y="27270"/>
                      <a:pt x="7810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1C6DBE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590294" y="20183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多源数据融合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94104" y="2366010"/>
              <a:ext cx="1149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75" dirty="0">
                  <a:solidFill>
                    <a:srgbClr val="1C6DBE"/>
                  </a:solidFill>
                  <a:latin typeface="Segoe UI"/>
                  <a:ea typeface="Segoe UI"/>
                  <a:cs typeface="Segoe UI"/>
                </a:rPr>
                <a:t>DATA FUSION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838200" y="27813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4288">
              <a:solidFill>
                <a:srgbClr val="EDF1F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0580" y="2981325"/>
              <a:ext cx="3135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政府 / 中介 / 房企 / 城建多来源，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0580" y="32861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一处汇总，口径统一。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48400" y="1714500"/>
            <a:ext cx="5410200" cy="2057400"/>
            <a:chOff x="6248400" y="1714500"/>
            <a:chExt cx="5410200" cy="2057400"/>
          </a:xfrm>
        </p:grpSpPr>
        <p:sp>
          <p:nvSpPr>
            <p:cNvPr id="26" name="Rectangle 26"/>
            <p:cNvSpPr/>
            <p:nvPr/>
          </p:nvSpPr>
          <p:spPr>
            <a:xfrm>
              <a:off x="6248400" y="1714500"/>
              <a:ext cx="5410200" cy="205740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719808" y="19469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4200" b="1" dirty="0">
                  <a:solidFill>
                    <a:srgbClr val="16B8A6">
                      <a:alphaMod val="9000"/>
                    </a:srgbClr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53200" y="19621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E4F7F4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711950" y="2120900"/>
              <a:ext cx="256466" cy="253999"/>
              <a:chOff x="6711950" y="2120900"/>
              <a:chExt cx="256466" cy="25399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711950" y="2120900"/>
                <a:ext cx="253999" cy="253999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253999">
                    <a:moveTo>
                      <a:pt x="12700" y="0"/>
                    </a:moveTo>
                    <a:cubicBezTo>
                      <a:pt x="19714" y="0"/>
                      <a:pt x="25400" y="5686"/>
                      <a:pt x="25400" y="12700"/>
                    </a:cubicBezTo>
                    <a:lnTo>
                      <a:pt x="25400" y="228599"/>
                    </a:lnTo>
                    <a:lnTo>
                      <a:pt x="241299" y="228599"/>
                    </a:lnTo>
                    <a:cubicBezTo>
                      <a:pt x="247738" y="228600"/>
                      <a:pt x="253157" y="233419"/>
                      <a:pt x="253910" y="239814"/>
                    </a:cubicBezTo>
                    <a:lnTo>
                      <a:pt x="253999" y="241299"/>
                    </a:lnTo>
                    <a:cubicBezTo>
                      <a:pt x="253999" y="248313"/>
                      <a:pt x="248313" y="253999"/>
                      <a:pt x="241299" y="253999"/>
                    </a:cubicBezTo>
                    <a:lnTo>
                      <a:pt x="12700" y="253999"/>
                    </a:lnTo>
                    <a:cubicBezTo>
                      <a:pt x="5686" y="253999"/>
                      <a:pt x="0" y="248313"/>
                      <a:pt x="0" y="241299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16B8A6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58584" y="2146300"/>
                <a:ext cx="209832" cy="181640"/>
              </a:xfrm>
              <a:custGeom>
                <a:avLst/>
                <a:gdLst/>
                <a:ahLst/>
                <a:cxnLst/>
                <a:rect l="l" t="t" r="r" b="b"/>
                <a:pathLst>
                  <a:path w="209832" h="181640">
                    <a:moveTo>
                      <a:pt x="169265" y="0"/>
                    </a:moveTo>
                    <a:cubicBezTo>
                      <a:pt x="183853" y="33"/>
                      <a:pt x="197142" y="8393"/>
                      <a:pt x="203487" y="21529"/>
                    </a:cubicBezTo>
                    <a:cubicBezTo>
                      <a:pt x="209832" y="34666"/>
                      <a:pt x="208119" y="50272"/>
                      <a:pt x="199075" y="61719"/>
                    </a:cubicBezTo>
                    <a:cubicBezTo>
                      <a:pt x="190031" y="73166"/>
                      <a:pt x="175245" y="78444"/>
                      <a:pt x="160997" y="75311"/>
                    </a:cubicBezTo>
                    <a:lnTo>
                      <a:pt x="135572" y="115976"/>
                    </a:lnTo>
                    <a:cubicBezTo>
                      <a:pt x="147569" y="131049"/>
                      <a:pt x="146428" y="152705"/>
                      <a:pt x="132913" y="166433"/>
                    </a:cubicBezTo>
                    <a:cubicBezTo>
                      <a:pt x="119398" y="180160"/>
                      <a:pt x="97762" y="181640"/>
                      <a:pt x="82504" y="169880"/>
                    </a:cubicBezTo>
                    <a:cubicBezTo>
                      <a:pt x="67246" y="158121"/>
                      <a:pt x="63166" y="136822"/>
                      <a:pt x="72999" y="120256"/>
                    </a:cubicBezTo>
                    <a:lnTo>
                      <a:pt x="55499" y="99238"/>
                    </a:lnTo>
                    <a:cubicBezTo>
                      <a:pt x="38100" y="105680"/>
                      <a:pt x="18590" y="98653"/>
                      <a:pt x="9295" y="82596"/>
                    </a:cubicBezTo>
                    <a:cubicBezTo>
                      <a:pt x="0" y="66540"/>
                      <a:pt x="3622" y="46122"/>
                      <a:pt x="17874" y="34242"/>
                    </a:cubicBezTo>
                    <a:cubicBezTo>
                      <a:pt x="32125" y="22363"/>
                      <a:pt x="52862" y="22477"/>
                      <a:pt x="66982" y="34511"/>
                    </a:cubicBezTo>
                    <a:cubicBezTo>
                      <a:pt x="81103" y="46546"/>
                      <a:pt x="84502" y="67002"/>
                      <a:pt x="75031" y="82956"/>
                    </a:cubicBezTo>
                    <a:lnTo>
                      <a:pt x="92532" y="103962"/>
                    </a:lnTo>
                    <a:cubicBezTo>
                      <a:pt x="99408" y="101412"/>
                      <a:pt x="106875" y="100905"/>
                      <a:pt x="114033" y="102501"/>
                    </a:cubicBezTo>
                    <a:lnTo>
                      <a:pt x="139458" y="61823"/>
                    </a:lnTo>
                    <a:cubicBezTo>
                      <a:pt x="130350" y="50378"/>
                      <a:pt x="128599" y="34729"/>
                      <a:pt x="134951" y="21554"/>
                    </a:cubicBezTo>
                    <a:cubicBezTo>
                      <a:pt x="141304" y="8378"/>
                      <a:pt x="154638" y="2"/>
                      <a:pt x="169265" y="0"/>
                    </a:cubicBezTo>
                    <a:close/>
                  </a:path>
                </a:pathLst>
              </a:custGeom>
              <a:solidFill>
                <a:srgbClr val="16B8A6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305294" y="201834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机器学习价格预测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09104" y="2366010"/>
              <a:ext cx="1358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75" dirty="0">
                  <a:solidFill>
                    <a:srgbClr val="0E9C8C"/>
                  </a:solidFill>
                  <a:latin typeface="Segoe UI"/>
                  <a:ea typeface="Segoe UI"/>
                  <a:cs typeface="Segoe UI"/>
                </a:rPr>
                <a:t>ML PREDICTION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553200" y="27813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4288">
              <a:solidFill>
                <a:srgbClr val="EDF1F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45580" y="2981325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不止展示，还能『算』未来——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5580" y="32861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回归模型预测价格波动。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33400" y="4000500"/>
            <a:ext cx="5410200" cy="2057400"/>
            <a:chOff x="533400" y="4000500"/>
            <a:chExt cx="5410200" cy="2057400"/>
          </a:xfrm>
        </p:grpSpPr>
        <p:sp>
          <p:nvSpPr>
            <p:cNvPr id="38" name="Rectangle 38"/>
            <p:cNvSpPr/>
            <p:nvPr/>
          </p:nvSpPr>
          <p:spPr>
            <a:xfrm>
              <a:off x="533400" y="4000500"/>
              <a:ext cx="5410200" cy="205740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04808" y="42329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4200" b="1" dirty="0">
                  <a:solidFill>
                    <a:srgbClr val="5AA0DC">
                      <a:alphaMod val="11000"/>
                    </a:srgbClr>
                  </a:solidFill>
                  <a:latin typeface="Segoe UI"/>
                  <a:ea typeface="Segoe UI"/>
                  <a:cs typeface="Segoe UI"/>
                </a:rPr>
                <a:t>03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38200" y="42481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EAF3FB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98490" y="4395740"/>
              <a:ext cx="251046" cy="275097"/>
            </a:xfrm>
            <a:custGeom>
              <a:avLst/>
              <a:gdLst/>
              <a:ahLst/>
              <a:cxnLst/>
              <a:rect l="l" t="t" r="r" b="b"/>
              <a:pathLst>
                <a:path w="251046" h="275097">
                  <a:moveTo>
                    <a:pt x="206282" y="44637"/>
                  </a:moveTo>
                  <a:cubicBezTo>
                    <a:pt x="249905" y="88255"/>
                    <a:pt x="251046" y="158619"/>
                    <a:pt x="208860" y="203628"/>
                  </a:cubicBezTo>
                  <a:lnTo>
                    <a:pt x="206282" y="206295"/>
                  </a:lnTo>
                  <a:lnTo>
                    <a:pt x="152396" y="260168"/>
                  </a:lnTo>
                  <a:cubicBezTo>
                    <a:pt x="138208" y="274348"/>
                    <a:pt x="115456" y="275097"/>
                    <a:pt x="100365" y="261883"/>
                  </a:cubicBezTo>
                  <a:lnTo>
                    <a:pt x="98536" y="260168"/>
                  </a:lnTo>
                  <a:lnTo>
                    <a:pt x="44637" y="206282"/>
                  </a:lnTo>
                  <a:cubicBezTo>
                    <a:pt x="0" y="161645"/>
                    <a:pt x="0" y="89274"/>
                    <a:pt x="44637" y="44637"/>
                  </a:cubicBezTo>
                  <a:cubicBezTo>
                    <a:pt x="89274" y="0"/>
                    <a:pt x="161645" y="0"/>
                    <a:pt x="206282" y="44637"/>
                  </a:cubicBezTo>
                  <a:close/>
                  <a:moveTo>
                    <a:pt x="125460" y="87360"/>
                  </a:moveTo>
                  <a:cubicBezTo>
                    <a:pt x="104418" y="87360"/>
                    <a:pt x="87360" y="104418"/>
                    <a:pt x="87360" y="125460"/>
                  </a:cubicBezTo>
                  <a:cubicBezTo>
                    <a:pt x="87360" y="146502"/>
                    <a:pt x="104418" y="163560"/>
                    <a:pt x="125460" y="163560"/>
                  </a:cubicBezTo>
                  <a:cubicBezTo>
                    <a:pt x="146502" y="163560"/>
                    <a:pt x="163560" y="146502"/>
                    <a:pt x="163560" y="125460"/>
                  </a:cubicBezTo>
                  <a:cubicBezTo>
                    <a:pt x="163560" y="104418"/>
                    <a:pt x="146502" y="87360"/>
                    <a:pt x="125460" y="87360"/>
                  </a:cubicBezTo>
                </a:path>
              </a:pathLst>
            </a:custGeom>
            <a:solidFill>
              <a:srgbClr val="5AA0D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590294" y="430434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地图可视化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94104" y="4652010"/>
              <a:ext cx="12300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75" dirty="0">
                  <a:solidFill>
                    <a:srgbClr val="3E82C4"/>
                  </a:solidFill>
                  <a:latin typeface="Segoe UI"/>
                  <a:ea typeface="Segoe UI"/>
                  <a:cs typeface="Segoe UI"/>
                </a:rPr>
                <a:t>MAP HEATMAP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38200" y="50673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4288">
              <a:solidFill>
                <a:srgbClr val="EDF1F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0580" y="52673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区域房价热力上图，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0580" y="5572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高低一目了然。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48400" y="4000500"/>
            <a:ext cx="5410200" cy="2057400"/>
            <a:chOff x="6248400" y="4000500"/>
            <a:chExt cx="5410200" cy="2057400"/>
          </a:xfrm>
        </p:grpSpPr>
        <p:sp>
          <p:nvSpPr>
            <p:cNvPr id="48" name="Rectangle 48"/>
            <p:cNvSpPr/>
            <p:nvPr/>
          </p:nvSpPr>
          <p:spPr>
            <a:xfrm>
              <a:off x="6248400" y="4000500"/>
              <a:ext cx="5410200" cy="205740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719808" y="42329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4200" b="1" dirty="0">
                  <a:solidFill>
                    <a:srgbClr val="164E7E">
                      <a:alphaMod val="9000"/>
                    </a:srgbClr>
                  </a:solidFill>
                  <a:latin typeface="Segoe UI"/>
                  <a:ea typeface="Segoe UI"/>
                  <a:cs typeface="Segoe UI"/>
                </a:rPr>
                <a:t>04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553200" y="4248150"/>
              <a:ext cx="571500" cy="571500"/>
            </a:xfrm>
            <a:prstGeom prst="roundRect">
              <a:avLst>
                <a:gd name="adj" fmla="val 26667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706199" y="4406900"/>
              <a:ext cx="265488" cy="254135"/>
            </a:xfrm>
            <a:custGeom>
              <a:avLst/>
              <a:gdLst/>
              <a:ahLst/>
              <a:cxnLst/>
              <a:rect l="l" t="t" r="r" b="b"/>
              <a:pathLst>
                <a:path w="265488" h="254135">
                  <a:moveTo>
                    <a:pt x="132725" y="0"/>
                  </a:moveTo>
                  <a:lnTo>
                    <a:pt x="134223" y="89"/>
                  </a:lnTo>
                  <a:lnTo>
                    <a:pt x="134973" y="190"/>
                  </a:lnTo>
                  <a:lnTo>
                    <a:pt x="135747" y="356"/>
                  </a:lnTo>
                  <a:lnTo>
                    <a:pt x="137157" y="787"/>
                  </a:lnTo>
                  <a:cubicBezTo>
                    <a:pt x="138131" y="1146"/>
                    <a:pt x="139056" y="1624"/>
                    <a:pt x="139913" y="2210"/>
                  </a:cubicBezTo>
                  <a:lnTo>
                    <a:pt x="141234" y="3251"/>
                  </a:lnTo>
                  <a:lnTo>
                    <a:pt x="144472" y="6020"/>
                  </a:lnTo>
                  <a:cubicBezTo>
                    <a:pt x="170092" y="27299"/>
                    <a:pt x="202471" y="38726"/>
                    <a:pt x="235772" y="38240"/>
                  </a:cubicBezTo>
                  <a:lnTo>
                    <a:pt x="240116" y="38113"/>
                  </a:lnTo>
                  <a:cubicBezTo>
                    <a:pt x="245960" y="37846"/>
                    <a:pt x="251230" y="41606"/>
                    <a:pt x="252879" y="47218"/>
                  </a:cubicBezTo>
                  <a:cubicBezTo>
                    <a:pt x="265488" y="90110"/>
                    <a:pt x="260164" y="136281"/>
                    <a:pt x="238124" y="175177"/>
                  </a:cubicBezTo>
                  <a:cubicBezTo>
                    <a:pt x="216083" y="214073"/>
                    <a:pt x="179212" y="242367"/>
                    <a:pt x="135938" y="253593"/>
                  </a:cubicBezTo>
                  <a:cubicBezTo>
                    <a:pt x="133847" y="254135"/>
                    <a:pt x="131653" y="254135"/>
                    <a:pt x="129562" y="253593"/>
                  </a:cubicBezTo>
                  <a:cubicBezTo>
                    <a:pt x="86286" y="242370"/>
                    <a:pt x="49411" y="214076"/>
                    <a:pt x="27369" y="175180"/>
                  </a:cubicBezTo>
                  <a:cubicBezTo>
                    <a:pt x="5326" y="136284"/>
                    <a:pt x="0" y="90112"/>
                    <a:pt x="12608" y="47218"/>
                  </a:cubicBezTo>
                  <a:cubicBezTo>
                    <a:pt x="14258" y="41606"/>
                    <a:pt x="19528" y="37846"/>
                    <a:pt x="25372" y="38113"/>
                  </a:cubicBezTo>
                  <a:cubicBezTo>
                    <a:pt x="60138" y="39702"/>
                    <a:pt x="94245" y="28257"/>
                    <a:pt x="121015" y="6020"/>
                  </a:cubicBezTo>
                  <a:lnTo>
                    <a:pt x="124355" y="3162"/>
                  </a:lnTo>
                  <a:lnTo>
                    <a:pt x="125575" y="2210"/>
                  </a:lnTo>
                  <a:cubicBezTo>
                    <a:pt x="126431" y="1624"/>
                    <a:pt x="127357" y="1146"/>
                    <a:pt x="128331" y="787"/>
                  </a:cubicBezTo>
                  <a:lnTo>
                    <a:pt x="129753" y="356"/>
                  </a:lnTo>
                  <a:cubicBezTo>
                    <a:pt x="130251" y="235"/>
                    <a:pt x="130755" y="146"/>
                    <a:pt x="131264" y="89"/>
                  </a:cubicBezTo>
                  <a:lnTo>
                    <a:pt x="132725" y="0"/>
                  </a:lnTo>
                  <a:close/>
                  <a:moveTo>
                    <a:pt x="179842" y="92621"/>
                  </a:moveTo>
                  <a:cubicBezTo>
                    <a:pt x="177460" y="90236"/>
                    <a:pt x="174227" y="88896"/>
                    <a:pt x="170856" y="88896"/>
                  </a:cubicBezTo>
                  <a:cubicBezTo>
                    <a:pt x="167486" y="88896"/>
                    <a:pt x="164253" y="90236"/>
                    <a:pt x="161871" y="92621"/>
                  </a:cubicBezTo>
                  <a:lnTo>
                    <a:pt x="120050" y="134429"/>
                  </a:lnTo>
                  <a:lnTo>
                    <a:pt x="103629" y="118021"/>
                  </a:lnTo>
                  <a:lnTo>
                    <a:pt x="102435" y="116967"/>
                  </a:lnTo>
                  <a:cubicBezTo>
                    <a:pt x="97138" y="112871"/>
                    <a:pt x="89570" y="113591"/>
                    <a:pt x="85141" y="118614"/>
                  </a:cubicBezTo>
                  <a:cubicBezTo>
                    <a:pt x="80712" y="123637"/>
                    <a:pt x="80944" y="131235"/>
                    <a:pt x="85671" y="135979"/>
                  </a:cubicBezTo>
                  <a:lnTo>
                    <a:pt x="111071" y="161378"/>
                  </a:lnTo>
                  <a:lnTo>
                    <a:pt x="112265" y="162433"/>
                  </a:lnTo>
                  <a:cubicBezTo>
                    <a:pt x="117321" y="166354"/>
                    <a:pt x="124504" y="165903"/>
                    <a:pt x="129029" y="161378"/>
                  </a:cubicBezTo>
                  <a:lnTo>
                    <a:pt x="179829" y="110579"/>
                  </a:lnTo>
                  <a:lnTo>
                    <a:pt x="180883" y="109385"/>
                  </a:lnTo>
                  <a:cubicBezTo>
                    <a:pt x="184805" y="104329"/>
                    <a:pt x="184353" y="97145"/>
                    <a:pt x="179829" y="92621"/>
                  </a:cubicBezTo>
                  <a:close/>
                </a:path>
              </a:pathLst>
            </a:custGeom>
            <a:solidFill>
              <a:srgbClr val="164E7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05294" y="43043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角色权限分级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09104" y="4652010"/>
              <a:ext cx="1194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75" dirty="0">
                  <a:solidFill>
                    <a:srgbClr val="164E7E"/>
                  </a:solidFill>
                  <a:latin typeface="Segoe UI"/>
                  <a:ea typeface="Segoe UI"/>
                  <a:cs typeface="Segoe UI"/>
                </a:rPr>
                <a:t>ROLE ACCESS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553200" y="50673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4288">
              <a:solidFill>
                <a:srgbClr val="EDF1F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45580" y="52673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不同用户不同视图与权限，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45580" y="55721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数据看得安全、用得清楚。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76250"/>
            <a:ext cx="7761656" cy="881634"/>
            <a:chOff x="533400" y="476250"/>
            <a:chExt cx="7761656" cy="881634"/>
          </a:xfrm>
        </p:grpSpPr>
        <p:sp>
          <p:nvSpPr>
            <p:cNvPr id="3" name="Rectangle 3"/>
            <p:cNvSpPr/>
            <p:nvPr/>
          </p:nvSpPr>
          <p:spPr>
            <a:xfrm>
              <a:off x="533400" y="476250"/>
              <a:ext cx="76200" cy="438150"/>
            </a:xfrm>
            <a:prstGeom prst="roundRect">
              <a:avLst>
                <a:gd name="adj" fmla="val 50000"/>
              </a:avLst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5998" y="498158"/>
              <a:ext cx="58203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落地计划：三步走，稳扎稳打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2856" y="1005840"/>
              <a:ext cx="75422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B6672"/>
                  </a:solidFill>
                  <a:latin typeface="Segoe UI"/>
                  <a:ea typeface="Microsoft YaHei"/>
                  <a:cs typeface="Segoe UI"/>
                </a:rPr>
                <a:t>开发完成前的推进路线——</a:t>
              </a:r>
              <a:r>
                <a:rPr lang="zh-CN" sz="1800" b="1" dirty="0">
                  <a:solidFill>
                    <a:srgbClr val="1C6DBE"/>
                  </a:solidFill>
                  <a:latin typeface="Segoe UI"/>
                  <a:ea typeface="Microsoft YaHei"/>
                  <a:cs typeface="Segoe UI"/>
                </a:rPr>
                <a:t>先跑通基础，再增强能力，最后完善上线。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619250"/>
            <a:ext cx="3238500" cy="3429000"/>
            <a:chOff x="533400" y="1619250"/>
            <a:chExt cx="3238500" cy="3429000"/>
          </a:xfrm>
        </p:grpSpPr>
        <p:sp>
          <p:nvSpPr>
            <p:cNvPr id="7" name="Rectangle 7"/>
            <p:cNvSpPr/>
            <p:nvPr/>
          </p:nvSpPr>
          <p:spPr>
            <a:xfrm>
              <a:off x="533400" y="1619250"/>
              <a:ext cx="3238500" cy="34290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33400" y="1619250"/>
              <a:ext cx="3238500" cy="533400"/>
            </a:xfrm>
            <a:custGeom>
              <a:avLst/>
              <a:gdLst/>
              <a:ahLst/>
              <a:cxnLst/>
              <a:rect l="l" t="t" r="r" b="b"/>
              <a:pathLst>
                <a:path w="3238500" h="533400">
                  <a:moveTo>
                    <a:pt x="0" y="533400"/>
                  </a:move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533400"/>
                  </a:lnTo>
                  <a:close/>
                </a:path>
              </a:pathLst>
            </a:custGeom>
            <a:solidFill>
              <a:srgbClr val="1C6DB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1866900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阶段一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84162" y="1899285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 个月内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094" y="24183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夯实基础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19150" y="3028950"/>
              <a:ext cx="76200" cy="76200"/>
            </a:xfrm>
            <a:prstGeom prst="ellipse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3361" y="2970371"/>
              <a:ext cx="7818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爬虫采集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19150" y="3390900"/>
              <a:ext cx="76200" cy="76200"/>
            </a:xfrm>
            <a:prstGeom prst="ellipse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3361" y="3332321"/>
              <a:ext cx="7818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数据清洗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19150" y="3752850"/>
              <a:ext cx="76200" cy="76200"/>
            </a:xfrm>
            <a:prstGeom prst="ellipse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361" y="3694271"/>
              <a:ext cx="27193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基础可视化（搜索/柱状/走势）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19150" y="4114800"/>
              <a:ext cx="76200" cy="76200"/>
            </a:xfrm>
            <a:prstGeom prst="ellipse">
              <a:avLst/>
            </a:prstGeom>
            <a:solidFill>
              <a:srgbClr val="1C6DB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42" y="4064318"/>
              <a:ext cx="895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Flask 骨架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76750" y="1619250"/>
            <a:ext cx="3238500" cy="3429000"/>
            <a:chOff x="4476750" y="1619250"/>
            <a:chExt cx="3238500" cy="3429000"/>
          </a:xfrm>
        </p:grpSpPr>
        <p:sp>
          <p:nvSpPr>
            <p:cNvPr id="21" name="Rectangle 21"/>
            <p:cNvSpPr/>
            <p:nvPr/>
          </p:nvSpPr>
          <p:spPr>
            <a:xfrm>
              <a:off x="4476750" y="1619250"/>
              <a:ext cx="3238500" cy="34290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476750" y="1619250"/>
              <a:ext cx="3238500" cy="533400"/>
            </a:xfrm>
            <a:custGeom>
              <a:avLst/>
              <a:gdLst/>
              <a:ahLst/>
              <a:cxnLst/>
              <a:rect l="l" t="t" r="r" b="b"/>
              <a:pathLst>
                <a:path w="3238500" h="533400">
                  <a:moveTo>
                    <a:pt x="0" y="533400"/>
                  </a:move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533400"/>
                  </a:lnTo>
                  <a:close/>
                </a:path>
              </a:pathLst>
            </a:custGeom>
            <a:solidFill>
              <a:srgbClr val="16B8A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97730" y="1866900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阶段二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0550" y="1899285"/>
              <a:ext cx="682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2–3 个月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95444" y="24183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能力增强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762500" y="3028950"/>
              <a:ext cx="76200" cy="762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26711" y="2970371"/>
              <a:ext cx="7818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多城对比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4762500" y="3390900"/>
              <a:ext cx="76200" cy="762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926711" y="3332321"/>
              <a:ext cx="9736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地图可视化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4762500" y="3752850"/>
              <a:ext cx="76200" cy="762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26711" y="3694271"/>
              <a:ext cx="13860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用户 / 角色权限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62500" y="4114800"/>
              <a:ext cx="76200" cy="76200"/>
            </a:xfrm>
            <a:prstGeom prst="ellipse">
              <a:avLst/>
            </a:prstGeom>
            <a:solidFill>
              <a:srgbClr val="16B8A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926711" y="4056221"/>
              <a:ext cx="15491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机器学习预测接入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420100" y="1619250"/>
            <a:ext cx="3238500" cy="3429000"/>
            <a:chOff x="8420100" y="1619250"/>
            <a:chExt cx="3238500" cy="3429000"/>
          </a:xfrm>
        </p:grpSpPr>
        <p:sp>
          <p:nvSpPr>
            <p:cNvPr id="35" name="Rectangle 35"/>
            <p:cNvSpPr/>
            <p:nvPr/>
          </p:nvSpPr>
          <p:spPr>
            <a:xfrm>
              <a:off x="8420100" y="1619250"/>
              <a:ext cx="3238500" cy="34290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4288">
              <a:solidFill>
                <a:srgbClr val="D8E2EF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420100" y="1619250"/>
              <a:ext cx="3238500" cy="533400"/>
            </a:xfrm>
            <a:custGeom>
              <a:avLst/>
              <a:gdLst/>
              <a:ahLst/>
              <a:cxnLst/>
              <a:rect l="l" t="t" r="r" b="b"/>
              <a:pathLst>
                <a:path w="3238500" h="533400">
                  <a:moveTo>
                    <a:pt x="0" y="533400"/>
                  </a:move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533400"/>
                  </a:lnTo>
                  <a:close/>
                </a:path>
              </a:pathLst>
            </a:custGeom>
            <a:solidFill>
              <a:srgbClr val="5AA0D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41080" y="1866900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阶段三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70862" y="1899285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 个月后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38794" y="24183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完善上线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8705850" y="3028950"/>
              <a:ext cx="76200" cy="76200"/>
            </a:xfrm>
            <a:prstGeom prst="ellipse">
              <a:avLst/>
            </a:prstGeom>
            <a:solidFill>
              <a:srgbClr val="5AA0D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70061" y="2970371"/>
              <a:ext cx="19498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模型调优（XGBoost）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8705850" y="3390900"/>
              <a:ext cx="76200" cy="76200"/>
            </a:xfrm>
            <a:prstGeom prst="ellipse">
              <a:avLst/>
            </a:prstGeom>
            <a:solidFill>
              <a:srgbClr val="5AA0D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70061" y="3332321"/>
              <a:ext cx="9736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可视化大屏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8705850" y="3752850"/>
              <a:ext cx="76200" cy="76200"/>
            </a:xfrm>
            <a:prstGeom prst="ellipse">
              <a:avLst/>
            </a:prstGeom>
            <a:solidFill>
              <a:srgbClr val="5AA0D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70061" y="3694271"/>
              <a:ext cx="7818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系统测试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705850" y="4114800"/>
              <a:ext cx="76200" cy="76200"/>
            </a:xfrm>
            <a:prstGeom prst="ellipse">
              <a:avLst/>
            </a:prstGeom>
            <a:solidFill>
              <a:srgbClr val="5AA0D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870061" y="4056221"/>
              <a:ext cx="3981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上线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77909" y="5048250"/>
            <a:ext cx="9236183" cy="1204151"/>
            <a:chOff x="1477909" y="5048250"/>
            <a:chExt cx="9236183" cy="1204151"/>
          </a:xfrm>
        </p:grpSpPr>
        <p:sp>
          <p:nvSpPr>
            <p:cNvPr id="49" name="Line 49"/>
            <p:cNvSpPr/>
            <p:nvPr/>
          </p:nvSpPr>
          <p:spPr>
            <a:xfrm>
              <a:off x="2152650" y="50482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1C6DBE">
                  <a:alpha val="60000"/>
                </a:srgbClr>
              </a:solidFill>
              <a:prstDash val="dash"/>
            </a:ln>
          </p:spPr>
        </p:sp>
        <p:sp>
          <p:nvSpPr>
            <p:cNvPr id="50" name="Line 50"/>
            <p:cNvSpPr/>
            <p:nvPr/>
          </p:nvSpPr>
          <p:spPr>
            <a:xfrm>
              <a:off x="6096000" y="50482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16B8A6">
                  <a:alpha val="60000"/>
                </a:srgbClr>
              </a:solidFill>
              <a:prstDash val="dash"/>
            </a:ln>
          </p:spPr>
        </p:sp>
        <p:sp>
          <p:nvSpPr>
            <p:cNvPr id="51" name="Line 51"/>
            <p:cNvSpPr/>
            <p:nvPr/>
          </p:nvSpPr>
          <p:spPr>
            <a:xfrm>
              <a:off x="10039350" y="50482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5AA0DC">
                  <a:alpha val="60000"/>
                </a:srgbClr>
              </a:solidFill>
              <a:prstDash val="dash"/>
            </a:ln>
          </p:spPr>
        </p:sp>
        <p:sp>
          <p:nvSpPr>
            <p:cNvPr id="52" name="Line 52"/>
            <p:cNvSpPr/>
            <p:nvPr/>
          </p:nvSpPr>
          <p:spPr>
            <a:xfrm>
              <a:off x="1524000" y="56007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76200" cap="rnd">
              <a:gradFill>
                <a:gsLst>
                  <a:gs pos="0">
                    <a:srgbClr val="1C6DBE"/>
                  </a:gs>
                  <a:gs pos="50000">
                    <a:srgbClr val="16B8A6"/>
                  </a:gs>
                  <a:gs pos="100000">
                    <a:srgbClr val="5AA0DC"/>
                  </a:gs>
                </a:gsLst>
                <a:lin ang="0" scaled="1"/>
              </a:gra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1962150" y="5410200"/>
              <a:ext cx="8267700" cy="381000"/>
              <a:chOff x="1962150" y="5410200"/>
              <a:chExt cx="8267700" cy="381000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1962150" y="5410200"/>
                <a:ext cx="381000" cy="381000"/>
              </a:xfrm>
              <a:prstGeom prst="ellipse">
                <a:avLst/>
              </a:prstGeom>
              <a:solidFill>
                <a:srgbClr val="1C6DBE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2093315" y="5521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5905500" y="5410200"/>
                <a:ext cx="381000" cy="381000"/>
              </a:xfrm>
              <a:prstGeom prst="ellipse">
                <a:avLst/>
              </a:prstGeom>
              <a:solidFill>
                <a:srgbClr val="16B8A6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036665" y="5521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57" name="Ellipse 57"/>
              <p:cNvSpPr/>
              <p:nvPr/>
            </p:nvSpPr>
            <p:spPr>
              <a:xfrm>
                <a:off x="9848850" y="5410200"/>
                <a:ext cx="381000" cy="381000"/>
              </a:xfrm>
              <a:prstGeom prst="ellipse">
                <a:avLst/>
              </a:prstGeom>
              <a:solidFill>
                <a:srgbClr val="5AA0DC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9980015" y="55216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1477909" y="59883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1 个月内 · 基础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411717" y="5988368"/>
              <a:ext cx="1368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2–3 个月 · 增强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64609" y="59883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A37"/>
                  </a:solidFill>
                  <a:latin typeface="Segoe UI"/>
                  <a:ea typeface="Microsoft YaHei"/>
                  <a:cs typeface="Segoe UI"/>
                </a:rPr>
                <a:t>3 个月后 · 上线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755904" y="6442710"/>
            <a:ext cx="58358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0"/>
                </a:solidFill>
                <a:latin typeface="Segoe UI"/>
                <a:ea typeface="Microsoft YaHei"/>
                <a:cs typeface="Segoe UI"/>
              </a:rPr>
              <a:t>节奏按团队课余可投入估算，实际以团队进度为准 | 城市房价分析系统 · 产品发布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C6DBE"/>
                </a:gs>
                <a:gs pos="60000">
                  <a:srgbClr val="185C9E"/>
                </a:gs>
                <a:gs pos="100000">
                  <a:srgbClr val="123F6B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6B8A6">
                    <a:alpha val="34000"/>
                  </a:srgbClr>
                </a:gs>
                <a:gs pos="100000">
                  <a:srgbClr val="16B8A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181850" y="3467100"/>
            <a:ext cx="4514850" cy="1924050"/>
            <a:chOff x="7181850" y="3467100"/>
            <a:chExt cx="4514850" cy="1924050"/>
          </a:xfrm>
        </p:grpSpPr>
        <p:sp>
          <p:nvSpPr>
            <p:cNvPr id="5" name="Polyline 5"/>
            <p:cNvSpPr/>
            <p:nvPr/>
          </p:nvSpPr>
          <p:spPr>
            <a:xfrm>
              <a:off x="7239000" y="3543300"/>
              <a:ext cx="4381500" cy="1790700"/>
            </a:xfrm>
            <a:custGeom>
              <a:avLst/>
              <a:gdLst/>
              <a:ahLst/>
              <a:cxnLst/>
              <a:rect l="l" t="t" r="r" b="b"/>
              <a:pathLst>
                <a:path w="4381500" h="1790700">
                  <a:moveTo>
                    <a:pt x="0" y="1790700"/>
                  </a:moveTo>
                  <a:lnTo>
                    <a:pt x="762000" y="1409700"/>
                  </a:lnTo>
                  <a:lnTo>
                    <a:pt x="1524000" y="1524000"/>
                  </a:lnTo>
                  <a:lnTo>
                    <a:pt x="2286000" y="933450"/>
                  </a:lnTo>
                  <a:lnTo>
                    <a:pt x="3048000" y="1085850"/>
                  </a:lnTo>
                  <a:lnTo>
                    <a:pt x="3810000" y="361950"/>
                  </a:lnTo>
                  <a:lnTo>
                    <a:pt x="4381500" y="0"/>
                  </a:lnTo>
                </a:path>
              </a:pathLst>
            </a:custGeom>
            <a:noFill/>
            <a:ln w="38100" cap="rnd">
              <a:solidFill>
                <a:srgbClr val="7FE3D6">
                  <a:alpha val="85000"/>
                </a:srgbClr>
              </a:solidFill>
              <a:round/>
            </a:ln>
          </p:spPr>
        </p:sp>
        <p:sp>
          <p:nvSpPr>
            <p:cNvPr id="6" name="Ellipse 6"/>
            <p:cNvSpPr/>
            <p:nvPr/>
          </p:nvSpPr>
          <p:spPr>
            <a:xfrm>
              <a:off x="7181850" y="5276850"/>
              <a:ext cx="114300" cy="114300"/>
            </a:xfrm>
            <a:prstGeom prst="ellipse">
              <a:avLst/>
            </a:prstGeom>
            <a:solidFill>
              <a:srgbClr val="7FE3D6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705850" y="5010150"/>
              <a:ext cx="114300" cy="114300"/>
            </a:xfrm>
            <a:prstGeom prst="ellipse">
              <a:avLst/>
            </a:prstGeom>
            <a:solidFill>
              <a:srgbClr val="7FE3D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229850" y="4572000"/>
              <a:ext cx="114300" cy="114300"/>
            </a:xfrm>
            <a:prstGeom prst="ellipse">
              <a:avLst/>
            </a:prstGeom>
            <a:solidFill>
              <a:srgbClr val="7FE3D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544300" y="34671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6B8A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42950" y="1606868"/>
            <a:ext cx="6183516" cy="2869311"/>
            <a:chOff x="742950" y="1606868"/>
            <a:chExt cx="6183516" cy="2869311"/>
          </a:xfrm>
        </p:grpSpPr>
        <p:sp>
          <p:nvSpPr>
            <p:cNvPr id="11" name="TextBox 11"/>
            <p:cNvSpPr txBox="1"/>
            <p:nvPr/>
          </p:nvSpPr>
          <p:spPr>
            <a:xfrm>
              <a:off x="793242" y="1606868"/>
              <a:ext cx="28401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375" dirty="0">
                  <a:solidFill>
                    <a:srgbClr val="9FE6DC"/>
                  </a:solidFill>
                  <a:latin typeface="Segoe UI"/>
                  <a:ea typeface="Microsoft YaHei"/>
                  <a:cs typeface="Segoe UI"/>
                </a:rPr>
                <a:t>谢谢观看 · THANK YOU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2950" y="2381250"/>
              <a:ext cx="5126736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从看懂到预测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3336" y="3339465"/>
              <a:ext cx="609748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BFE9E3"/>
                  </a:solidFill>
                  <a:latin typeface="Segoe UI"/>
                  <a:ea typeface="Microsoft YaHei"/>
                  <a:cs typeface="Segoe UI"/>
                </a:rPr>
                <a:t>让每一次看房，都有数据撑腰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0194" y="4094798"/>
              <a:ext cx="61362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DCE8F4"/>
                  </a:solidFill>
                  <a:latin typeface="Segoe UI"/>
                  <a:ea typeface="Microsoft YaHei"/>
                  <a:cs typeface="Segoe UI"/>
                </a:rPr>
                <a:t>下一步：接入真实数据 · 完善可视化大屏 · 系统上线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00100" y="4781550"/>
            <a:ext cx="3886200" cy="419100"/>
            <a:chOff x="800100" y="4781550"/>
            <a:chExt cx="3886200" cy="419100"/>
          </a:xfrm>
        </p:grpSpPr>
        <p:sp>
          <p:nvSpPr>
            <p:cNvPr id="16" name="Rectangle 16"/>
            <p:cNvSpPr/>
            <p:nvPr/>
          </p:nvSpPr>
          <p:spPr>
            <a:xfrm>
              <a:off x="800100" y="4781550"/>
              <a:ext cx="12192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84040" y="48863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看得懂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133600" y="4781550"/>
              <a:ext cx="12192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17540" y="48863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比得清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67100" y="4781550"/>
              <a:ext cx="12192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51040" y="48863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算得准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91718" y="5829300"/>
            <a:ext cx="10600182" cy="842201"/>
            <a:chOff x="791718" y="5829300"/>
            <a:chExt cx="10600182" cy="842201"/>
          </a:xfrm>
        </p:grpSpPr>
        <p:sp>
          <p:nvSpPr>
            <p:cNvPr id="23" name="Line 23"/>
            <p:cNvSpPr/>
            <p:nvPr/>
          </p:nvSpPr>
          <p:spPr>
            <a:xfrm>
              <a:off x="800100" y="5829300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9525">
              <a:solidFill>
                <a:srgbClr val="FFFFFF">
                  <a:alpha val="18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1718" y="6070282"/>
              <a:ext cx="3316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城市房价分析系统 · 项目开发组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242" y="6407468"/>
              <a:ext cx="4555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4DA"/>
                  </a:solidFill>
                  <a:latin typeface="Segoe UI"/>
                  <a:ea typeface="Microsoft YaHei"/>
                  <a:cs typeface="Segoe UI"/>
                </a:rPr>
                <a:t>产品发布 · 2026.07 | 欢迎评委与同学提问交流 Q &amp; 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2026-07-05T14:30:15Z</dcterms:created>
  <dcterms:modified xsi:type="dcterms:W3CDTF">2026-07-05T14:30:15Z</dcterms:modified>
  <cp:category/>
  <cp:contentStatus/>
</cp:coreProperties>
</file>